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63" r:id="rId3"/>
    <p:sldId id="275" r:id="rId4"/>
    <p:sldId id="264" r:id="rId5"/>
    <p:sldId id="265" r:id="rId6"/>
    <p:sldId id="266" r:id="rId7"/>
    <p:sldId id="267" r:id="rId8"/>
    <p:sldId id="276" r:id="rId9"/>
    <p:sldId id="269" r:id="rId10"/>
    <p:sldId id="270" r:id="rId11"/>
    <p:sldId id="282" r:id="rId12"/>
    <p:sldId id="283" r:id="rId13"/>
    <p:sldId id="284" r:id="rId14"/>
    <p:sldId id="258" r:id="rId15"/>
    <p:sldId id="285" r:id="rId16"/>
    <p:sldId id="286" r:id="rId17"/>
    <p:sldId id="287" r:id="rId18"/>
    <p:sldId id="261" r:id="rId19"/>
    <p:sldId id="262" r:id="rId20"/>
    <p:sldId id="274" r:id="rId21"/>
    <p:sldId id="288" r:id="rId22"/>
    <p:sldId id="277" r:id="rId23"/>
    <p:sldId id="279" r:id="rId24"/>
    <p:sldId id="280" r:id="rId25"/>
    <p:sldId id="271" r:id="rId26"/>
    <p:sldId id="272" r:id="rId27"/>
    <p:sldId id="281" r:id="rId28"/>
    <p:sldId id="27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sorterViewPr>
    <p:cViewPr>
      <p:scale>
        <a:sx n="100" d="100"/>
        <a:sy n="100" d="100"/>
      </p:scale>
      <p:origin x="0" y="-328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sh penkar" userId="adaf9e37171bad60" providerId="LiveId" clId="{22E178DF-A90E-47EA-AE2E-74A838BF0F54}"/>
    <pc:docChg chg="delSld modSld">
      <pc:chgData name="yash penkar" userId="adaf9e37171bad60" providerId="LiveId" clId="{22E178DF-A90E-47EA-AE2E-74A838BF0F54}" dt="2025-03-19T04:56:55.495" v="2"/>
      <pc:docMkLst>
        <pc:docMk/>
      </pc:docMkLst>
      <pc:sldChg chg="del">
        <pc:chgData name="yash penkar" userId="adaf9e37171bad60" providerId="LiveId" clId="{22E178DF-A90E-47EA-AE2E-74A838BF0F54}" dt="2025-03-19T04:38:34.865" v="0" actId="47"/>
        <pc:sldMkLst>
          <pc:docMk/>
          <pc:sldMk cId="3103795649" sldId="257"/>
        </pc:sldMkLst>
      </pc:sldChg>
      <pc:sldChg chg="modSp mod">
        <pc:chgData name="yash penkar" userId="adaf9e37171bad60" providerId="LiveId" clId="{22E178DF-A90E-47EA-AE2E-74A838BF0F54}" dt="2025-03-19T04:51:46.160" v="1" actId="20577"/>
        <pc:sldMkLst>
          <pc:docMk/>
          <pc:sldMk cId="3602606570" sldId="258"/>
        </pc:sldMkLst>
        <pc:spChg chg="mod">
          <ac:chgData name="yash penkar" userId="adaf9e37171bad60" providerId="LiveId" clId="{22E178DF-A90E-47EA-AE2E-74A838BF0F54}" dt="2025-03-19T04:51:46.160" v="1" actId="20577"/>
          <ac:spMkLst>
            <pc:docMk/>
            <pc:sldMk cId="3602606570" sldId="258"/>
            <ac:spMk id="3" creationId="{78A68605-4F32-63C5-FA0E-B4086C081843}"/>
          </ac:spMkLst>
        </pc:spChg>
      </pc:sldChg>
      <pc:sldChg chg="modSp mod">
        <pc:chgData name="yash penkar" userId="adaf9e37171bad60" providerId="LiveId" clId="{22E178DF-A90E-47EA-AE2E-74A838BF0F54}" dt="2025-03-19T04:56:55.495" v="2"/>
        <pc:sldMkLst>
          <pc:docMk/>
          <pc:sldMk cId="2253766163" sldId="266"/>
        </pc:sldMkLst>
        <pc:spChg chg="mod">
          <ac:chgData name="yash penkar" userId="adaf9e37171bad60" providerId="LiveId" clId="{22E178DF-A90E-47EA-AE2E-74A838BF0F54}" dt="2025-03-19T04:56:55.495" v="2"/>
          <ac:spMkLst>
            <pc:docMk/>
            <pc:sldMk cId="2253766163" sldId="266"/>
            <ac:spMk id="3" creationId="{76126495-AE78-B1E2-99D0-EBB500595C6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35D126-5083-47C0-8428-F0F7B8C84DD0}" type="datetimeFigureOut">
              <a:rPr lang="en-IN" smtClean="0"/>
              <a:t>19-03-2025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4D366C-0D75-49CF-9D5F-7CC1D141DEA8}" type="slidenum">
              <a:rPr lang="en-IN" smtClean="0"/>
              <a:t>‹#›</a:t>
            </a:fld>
            <a:endParaRPr lang="en-IN"/>
          </a:p>
        </p:txBody>
      </p:sp>
    </p:spTree>
    <p:extLst>
      <p:ext uri="{BB962C8B-B14F-4D97-AF65-F5344CB8AC3E}">
        <p14:creationId xmlns:p14="http://schemas.microsoft.com/office/powerpoint/2010/main" val="4049654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35D126-5083-47C0-8428-F0F7B8C84DD0}" type="datetimeFigureOut">
              <a:rPr lang="en-IN" smtClean="0"/>
              <a:t>19-03-2025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4D366C-0D75-49CF-9D5F-7CC1D141DEA8}" type="slidenum">
              <a:rPr lang="en-IN" smtClean="0"/>
              <a:t>‹#›</a:t>
            </a:fld>
            <a:endParaRPr lang="en-IN"/>
          </a:p>
        </p:txBody>
      </p:sp>
    </p:spTree>
    <p:extLst>
      <p:ext uri="{BB962C8B-B14F-4D97-AF65-F5344CB8AC3E}">
        <p14:creationId xmlns:p14="http://schemas.microsoft.com/office/powerpoint/2010/main" val="3929542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35D126-5083-47C0-8428-F0F7B8C84DD0}" type="datetimeFigureOut">
              <a:rPr lang="en-IN" smtClean="0"/>
              <a:t>19-03-2025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4D366C-0D75-49CF-9D5F-7CC1D141DEA8}" type="slidenum">
              <a:rPr lang="en-IN" smtClean="0"/>
              <a:t>‹#›</a:t>
            </a:fld>
            <a:endParaRPr lang="en-IN"/>
          </a:p>
        </p:txBody>
      </p:sp>
    </p:spTree>
    <p:extLst>
      <p:ext uri="{BB962C8B-B14F-4D97-AF65-F5344CB8AC3E}">
        <p14:creationId xmlns:p14="http://schemas.microsoft.com/office/powerpoint/2010/main" val="2473830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35D126-5083-47C0-8428-F0F7B8C84DD0}" type="datetimeFigureOut">
              <a:rPr lang="en-IN" smtClean="0"/>
              <a:t>19-03-2025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24D366C-0D75-49CF-9D5F-7CC1D141DEA8}" type="slidenum">
              <a:rPr lang="en-IN" smtClean="0"/>
              <a:t>‹#›</a:t>
            </a:fld>
            <a:endParaRPr lang="en-IN"/>
          </a:p>
        </p:txBody>
      </p:sp>
    </p:spTree>
    <p:extLst>
      <p:ext uri="{BB962C8B-B14F-4D97-AF65-F5344CB8AC3E}">
        <p14:creationId xmlns:p14="http://schemas.microsoft.com/office/powerpoint/2010/main" val="3747366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35D126-5083-47C0-8428-F0F7B8C84DD0}" type="datetimeFigureOut">
              <a:rPr lang="en-IN" smtClean="0"/>
              <a:t>19-03-2025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24D366C-0D75-49CF-9D5F-7CC1D141DEA8}" type="slidenum">
              <a:rPr lang="en-IN" smtClean="0"/>
              <a:t>‹#›</a:t>
            </a:fld>
            <a:endParaRPr lang="en-IN"/>
          </a:p>
        </p:txBody>
      </p:sp>
    </p:spTree>
    <p:extLst>
      <p:ext uri="{BB962C8B-B14F-4D97-AF65-F5344CB8AC3E}">
        <p14:creationId xmlns:p14="http://schemas.microsoft.com/office/powerpoint/2010/main" val="4243142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A35D126-5083-47C0-8428-F0F7B8C84DD0}" type="datetimeFigureOut">
              <a:rPr lang="en-IN" smtClean="0"/>
              <a:t>19-03-2025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24D366C-0D75-49CF-9D5F-7CC1D141DEA8}" type="slidenum">
              <a:rPr lang="en-IN" smtClean="0"/>
              <a:t>‹#›</a:t>
            </a:fld>
            <a:endParaRPr lang="en-IN"/>
          </a:p>
        </p:txBody>
      </p:sp>
    </p:spTree>
    <p:extLst>
      <p:ext uri="{BB962C8B-B14F-4D97-AF65-F5344CB8AC3E}">
        <p14:creationId xmlns:p14="http://schemas.microsoft.com/office/powerpoint/2010/main" val="20965627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35D126-5083-47C0-8428-F0F7B8C84DD0}" type="datetimeFigureOut">
              <a:rPr lang="en-IN" smtClean="0"/>
              <a:t>19-03-2025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24D366C-0D75-49CF-9D5F-7CC1D141DEA8}" type="slidenum">
              <a:rPr lang="en-IN" smtClean="0"/>
              <a:t>‹#›</a:t>
            </a:fld>
            <a:endParaRPr lang="en-IN"/>
          </a:p>
        </p:txBody>
      </p:sp>
    </p:spTree>
    <p:extLst>
      <p:ext uri="{BB962C8B-B14F-4D97-AF65-F5344CB8AC3E}">
        <p14:creationId xmlns:p14="http://schemas.microsoft.com/office/powerpoint/2010/main" val="1247985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35D126-5083-47C0-8428-F0F7B8C84DD0}" type="datetimeFigureOut">
              <a:rPr lang="en-IN" smtClean="0"/>
              <a:t>19-03-2025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24D366C-0D75-49CF-9D5F-7CC1D141DEA8}" type="slidenum">
              <a:rPr lang="en-IN" smtClean="0"/>
              <a:t>‹#›</a:t>
            </a:fld>
            <a:endParaRPr lang="en-IN"/>
          </a:p>
        </p:txBody>
      </p:sp>
    </p:spTree>
    <p:extLst>
      <p:ext uri="{BB962C8B-B14F-4D97-AF65-F5344CB8AC3E}">
        <p14:creationId xmlns:p14="http://schemas.microsoft.com/office/powerpoint/2010/main" val="2546778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24D366C-0D75-49CF-9D5F-7CC1D141DEA8}" type="slidenum">
              <a:rPr lang="en-IN" smtClean="0"/>
              <a:t>‹#›</a:t>
            </a:fld>
            <a:endParaRPr lang="en-IN"/>
          </a:p>
        </p:txBody>
      </p:sp>
      <p:sp>
        <p:nvSpPr>
          <p:cNvPr id="5" name="Date Placeholder 4"/>
          <p:cNvSpPr>
            <a:spLocks noGrp="1"/>
          </p:cNvSpPr>
          <p:nvPr>
            <p:ph type="dt" sz="half" idx="10"/>
          </p:nvPr>
        </p:nvSpPr>
        <p:spPr/>
        <p:txBody>
          <a:bodyPr/>
          <a:lstStyle/>
          <a:p>
            <a:fld id="{4A35D126-5083-47C0-8428-F0F7B8C84DD0}" type="datetimeFigureOut">
              <a:rPr lang="en-IN" smtClean="0"/>
              <a:t>19-03-2025</a:t>
            </a:fld>
            <a:endParaRPr lang="en-IN"/>
          </a:p>
        </p:txBody>
      </p:sp>
    </p:spTree>
    <p:extLst>
      <p:ext uri="{BB962C8B-B14F-4D97-AF65-F5344CB8AC3E}">
        <p14:creationId xmlns:p14="http://schemas.microsoft.com/office/powerpoint/2010/main" val="3745991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35D126-5083-47C0-8428-F0F7B8C84DD0}" type="datetimeFigureOut">
              <a:rPr lang="en-IN" smtClean="0"/>
              <a:t>19-03-2025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4D366C-0D75-49CF-9D5F-7CC1D141DEA8}" type="slidenum">
              <a:rPr lang="en-IN" smtClean="0"/>
              <a:t>‹#›</a:t>
            </a:fld>
            <a:endParaRPr lang="en-IN"/>
          </a:p>
        </p:txBody>
      </p:sp>
    </p:spTree>
    <p:extLst>
      <p:ext uri="{BB962C8B-B14F-4D97-AF65-F5344CB8AC3E}">
        <p14:creationId xmlns:p14="http://schemas.microsoft.com/office/powerpoint/2010/main" val="2737189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35D126-5083-47C0-8428-F0F7B8C84DD0}" type="datetimeFigureOut">
              <a:rPr lang="en-IN" smtClean="0"/>
              <a:t>19-03-2025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4D366C-0D75-49CF-9D5F-7CC1D141DEA8}"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397025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35D126-5083-47C0-8428-F0F7B8C84DD0}" type="datetimeFigureOut">
              <a:rPr lang="en-IN" smtClean="0"/>
              <a:t>19-03-2025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4D366C-0D75-49CF-9D5F-7CC1D141DEA8}" type="slidenum">
              <a:rPr lang="en-IN" smtClean="0"/>
              <a:t>‹#›</a:t>
            </a:fld>
            <a:endParaRPr lang="en-IN"/>
          </a:p>
        </p:txBody>
      </p:sp>
    </p:spTree>
    <p:extLst>
      <p:ext uri="{BB962C8B-B14F-4D97-AF65-F5344CB8AC3E}">
        <p14:creationId xmlns:p14="http://schemas.microsoft.com/office/powerpoint/2010/main" val="3037986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35D126-5083-47C0-8428-F0F7B8C84DD0}" type="datetimeFigureOut">
              <a:rPr lang="en-IN" smtClean="0"/>
              <a:t>19-03-2025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4D366C-0D75-49CF-9D5F-7CC1D141DEA8}"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7221798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35D126-5083-47C0-8428-F0F7B8C84DD0}" type="datetimeFigureOut">
              <a:rPr lang="en-IN" smtClean="0"/>
              <a:t>19-03-2025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4D366C-0D75-49CF-9D5F-7CC1D141DEA8}" type="slidenum">
              <a:rPr lang="en-IN" smtClean="0"/>
              <a:t>‹#›</a:t>
            </a:fld>
            <a:endParaRPr lang="en-IN"/>
          </a:p>
        </p:txBody>
      </p:sp>
    </p:spTree>
    <p:extLst>
      <p:ext uri="{BB962C8B-B14F-4D97-AF65-F5344CB8AC3E}">
        <p14:creationId xmlns:p14="http://schemas.microsoft.com/office/powerpoint/2010/main" val="17750734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35D126-5083-47C0-8428-F0F7B8C84DD0}" type="datetimeFigureOut">
              <a:rPr lang="en-IN" smtClean="0"/>
              <a:t>19-03-2025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4D366C-0D75-49CF-9D5F-7CC1D141DEA8}" type="slidenum">
              <a:rPr lang="en-IN" smtClean="0"/>
              <a:t>‹#›</a:t>
            </a:fld>
            <a:endParaRPr lang="en-IN"/>
          </a:p>
        </p:txBody>
      </p:sp>
    </p:spTree>
    <p:extLst>
      <p:ext uri="{BB962C8B-B14F-4D97-AF65-F5344CB8AC3E}">
        <p14:creationId xmlns:p14="http://schemas.microsoft.com/office/powerpoint/2010/main" val="19978902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35D126-5083-47C0-8428-F0F7B8C84DD0}" type="datetimeFigureOut">
              <a:rPr lang="en-IN" smtClean="0"/>
              <a:t>19-03-2025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24D366C-0D75-49CF-9D5F-7CC1D141DEA8}" type="slidenum">
              <a:rPr lang="en-IN" smtClean="0"/>
              <a:t>‹#›</a:t>
            </a:fld>
            <a:endParaRPr lang="en-IN"/>
          </a:p>
        </p:txBody>
      </p:sp>
    </p:spTree>
    <p:extLst>
      <p:ext uri="{BB962C8B-B14F-4D97-AF65-F5344CB8AC3E}">
        <p14:creationId xmlns:p14="http://schemas.microsoft.com/office/powerpoint/2010/main" val="789240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A35D126-5083-47C0-8428-F0F7B8C84DD0}" type="datetimeFigureOut">
              <a:rPr lang="en-IN" smtClean="0"/>
              <a:t>19-03-2025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24D366C-0D75-49CF-9D5F-7CC1D141DEA8}" type="slidenum">
              <a:rPr lang="en-IN" smtClean="0"/>
              <a:t>‹#›</a:t>
            </a:fld>
            <a:endParaRPr lang="en-IN"/>
          </a:p>
        </p:txBody>
      </p:sp>
    </p:spTree>
    <p:extLst>
      <p:ext uri="{BB962C8B-B14F-4D97-AF65-F5344CB8AC3E}">
        <p14:creationId xmlns:p14="http://schemas.microsoft.com/office/powerpoint/2010/main" val="3631616679"/>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D5000-619B-E9F1-F4F9-2534788CCB08}"/>
              </a:ext>
            </a:extLst>
          </p:cNvPr>
          <p:cNvSpPr>
            <a:spLocks noGrp="1"/>
          </p:cNvSpPr>
          <p:nvPr>
            <p:ph type="ctrTitle"/>
          </p:nvPr>
        </p:nvSpPr>
        <p:spPr>
          <a:xfrm>
            <a:off x="2212532" y="2005715"/>
            <a:ext cx="7766936" cy="731576"/>
          </a:xfrm>
        </p:spPr>
        <p:txBody>
          <a:bodyPr/>
          <a:lstStyle/>
          <a:p>
            <a:pPr algn="ctr"/>
            <a:r>
              <a:rPr lang="en-IN" sz="4400" b="1" dirty="0">
                <a:solidFill>
                  <a:schemeClr val="tx1"/>
                </a:solidFill>
                <a:latin typeface="Times New Roman" panose="02020603050405020304" pitchFamily="18" charset="0"/>
                <a:cs typeface="Times New Roman" panose="02020603050405020304" pitchFamily="18" charset="0"/>
              </a:rPr>
              <a:t>AI BASED QUIZ SYSTEM </a:t>
            </a:r>
          </a:p>
        </p:txBody>
      </p:sp>
      <p:sp>
        <p:nvSpPr>
          <p:cNvPr id="3" name="Subtitle 2">
            <a:extLst>
              <a:ext uri="{FF2B5EF4-FFF2-40B4-BE49-F238E27FC236}">
                <a16:creationId xmlns:a16="http://schemas.microsoft.com/office/drawing/2014/main" id="{2CBCD114-E135-B28E-C10E-D468A5DAFADB}"/>
              </a:ext>
            </a:extLst>
          </p:cNvPr>
          <p:cNvSpPr>
            <a:spLocks noGrp="1"/>
          </p:cNvSpPr>
          <p:nvPr>
            <p:ph type="subTitle" idx="1"/>
          </p:nvPr>
        </p:nvSpPr>
        <p:spPr>
          <a:xfrm>
            <a:off x="2212532" y="3002264"/>
            <a:ext cx="7766936" cy="1096899"/>
          </a:xfrm>
        </p:spPr>
        <p:txBody>
          <a:bodyPr>
            <a:noAutofit/>
          </a:bodyPr>
          <a:lstStyle/>
          <a:p>
            <a:pPr marL="0" indent="0" algn="ctr">
              <a:lnSpc>
                <a:spcPct val="150000"/>
              </a:lnSpc>
              <a:buNone/>
            </a:pPr>
            <a:r>
              <a:rPr lang="en-IN" sz="2000" b="1" cap="none" dirty="0">
                <a:solidFill>
                  <a:schemeClr val="tx1"/>
                </a:solidFill>
                <a:latin typeface="Times New Roman" panose="02020603050405020304" pitchFamily="18" charset="0"/>
                <a:cs typeface="Times New Roman" panose="02020603050405020304" pitchFamily="18" charset="0"/>
              </a:rPr>
              <a:t>Yash </a:t>
            </a:r>
            <a:r>
              <a:rPr lang="en-IN" sz="2000" b="1" cap="none" dirty="0" err="1">
                <a:solidFill>
                  <a:schemeClr val="tx1"/>
                </a:solidFill>
                <a:latin typeface="Times New Roman" panose="02020603050405020304" pitchFamily="18" charset="0"/>
                <a:cs typeface="Times New Roman" panose="02020603050405020304" pitchFamily="18" charset="0"/>
              </a:rPr>
              <a:t>Penkar</a:t>
            </a:r>
            <a:r>
              <a:rPr lang="en-IN" sz="2000" b="1" cap="none" dirty="0">
                <a:solidFill>
                  <a:schemeClr val="tx1"/>
                </a:solidFill>
                <a:latin typeface="Times New Roman" panose="02020603050405020304" pitchFamily="18" charset="0"/>
                <a:cs typeface="Times New Roman" panose="02020603050405020304" pitchFamily="18" charset="0"/>
              </a:rPr>
              <a:t> (22106118)</a:t>
            </a:r>
          </a:p>
          <a:p>
            <a:pPr marL="0" indent="0" algn="ctr">
              <a:lnSpc>
                <a:spcPct val="150000"/>
              </a:lnSpc>
              <a:buNone/>
            </a:pPr>
            <a:r>
              <a:rPr lang="en-IN" sz="2000" b="1" cap="none" dirty="0" err="1">
                <a:solidFill>
                  <a:schemeClr val="tx1"/>
                </a:solidFill>
                <a:latin typeface="Times New Roman" panose="02020603050405020304" pitchFamily="18" charset="0"/>
                <a:cs typeface="Times New Roman" panose="02020603050405020304" pitchFamily="18" charset="0"/>
              </a:rPr>
              <a:t>Prarthana</a:t>
            </a:r>
            <a:r>
              <a:rPr lang="en-IN" sz="2000" b="1" cap="none" dirty="0">
                <a:solidFill>
                  <a:schemeClr val="tx1"/>
                </a:solidFill>
                <a:latin typeface="Times New Roman" panose="02020603050405020304" pitchFamily="18" charset="0"/>
                <a:cs typeface="Times New Roman" panose="02020603050405020304" pitchFamily="18" charset="0"/>
              </a:rPr>
              <a:t> Patil (22106035)</a:t>
            </a:r>
          </a:p>
          <a:p>
            <a:pPr marL="0" indent="0" algn="ctr">
              <a:lnSpc>
                <a:spcPct val="150000"/>
              </a:lnSpc>
              <a:buNone/>
            </a:pPr>
            <a:r>
              <a:rPr lang="en-IN" sz="2000" b="1" cap="none" dirty="0" err="1">
                <a:solidFill>
                  <a:schemeClr val="tx1"/>
                </a:solidFill>
                <a:latin typeface="Times New Roman" panose="02020603050405020304" pitchFamily="18" charset="0"/>
                <a:cs typeface="Times New Roman" panose="02020603050405020304" pitchFamily="18" charset="0"/>
              </a:rPr>
              <a:t>Rutuja</a:t>
            </a:r>
            <a:r>
              <a:rPr lang="en-IN" sz="2000" b="1" cap="none" dirty="0">
                <a:solidFill>
                  <a:schemeClr val="tx1"/>
                </a:solidFill>
                <a:latin typeface="Times New Roman" panose="02020603050405020304" pitchFamily="18" charset="0"/>
                <a:cs typeface="Times New Roman" panose="02020603050405020304" pitchFamily="18" charset="0"/>
              </a:rPr>
              <a:t> Pawar (22106043)</a:t>
            </a:r>
          </a:p>
          <a:p>
            <a:pPr marL="0" indent="0" algn="ctr">
              <a:lnSpc>
                <a:spcPct val="150000"/>
              </a:lnSpc>
              <a:buNone/>
            </a:pPr>
            <a:r>
              <a:rPr lang="en-IN" sz="2000" b="1" cap="none" dirty="0">
                <a:solidFill>
                  <a:schemeClr val="tx1"/>
                </a:solidFill>
                <a:latin typeface="Times New Roman" panose="02020603050405020304" pitchFamily="18" charset="0"/>
                <a:cs typeface="Times New Roman" panose="02020603050405020304" pitchFamily="18" charset="0"/>
              </a:rPr>
              <a:t>Dhruv Sawant (22106015)</a:t>
            </a:r>
          </a:p>
          <a:p>
            <a:pPr marL="0" indent="0" algn="ctr">
              <a:lnSpc>
                <a:spcPct val="150000"/>
              </a:lnSpc>
              <a:buNone/>
            </a:pPr>
            <a:r>
              <a:rPr lang="en-IN" sz="2000" b="1" cap="none" dirty="0">
                <a:solidFill>
                  <a:schemeClr val="tx1"/>
                </a:solidFill>
                <a:latin typeface="Times New Roman" panose="02020603050405020304" pitchFamily="18" charset="0"/>
                <a:cs typeface="Times New Roman" panose="02020603050405020304" pitchFamily="18" charset="0"/>
              </a:rPr>
              <a:t>Under the Guidance of </a:t>
            </a:r>
          </a:p>
          <a:p>
            <a:pPr marL="0" indent="0" algn="ctr">
              <a:lnSpc>
                <a:spcPct val="150000"/>
              </a:lnSpc>
              <a:buNone/>
            </a:pPr>
            <a:r>
              <a:rPr lang="en-IN" sz="2000" b="1" cap="none" dirty="0">
                <a:solidFill>
                  <a:schemeClr val="tx1"/>
                </a:solidFill>
                <a:latin typeface="Times New Roman" panose="02020603050405020304" pitchFamily="18" charset="0"/>
                <a:cs typeface="Times New Roman" panose="02020603050405020304" pitchFamily="18" charset="0"/>
              </a:rPr>
              <a:t>Prof. Shraddha Dalvi</a:t>
            </a:r>
            <a:endParaRPr lang="en-IN"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168BD71-2FF3-2144-1375-A47057FA4A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4718" y="237111"/>
            <a:ext cx="8862564" cy="1473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43816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517AE-E746-1508-FB86-369E9F011091}"/>
              </a:ext>
            </a:extLst>
          </p:cNvPr>
          <p:cNvSpPr>
            <a:spLocks noGrp="1"/>
          </p:cNvSpPr>
          <p:nvPr>
            <p:ph type="title"/>
          </p:nvPr>
        </p:nvSpPr>
        <p:spPr>
          <a:xfrm>
            <a:off x="1797666" y="231288"/>
            <a:ext cx="8596668" cy="652670"/>
          </a:xfrm>
        </p:spPr>
        <p:txBody>
          <a:bodyPr>
            <a:normAutofit/>
          </a:bodyPr>
          <a:lstStyle/>
          <a:p>
            <a:pPr algn="ctr"/>
            <a:r>
              <a:rPr lang="en-IN" b="1" dirty="0">
                <a:solidFill>
                  <a:schemeClr val="tx1"/>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1F54DB5D-F9D2-6D0C-0B39-913C10D10044}"/>
              </a:ext>
            </a:extLst>
          </p:cNvPr>
          <p:cNvSpPr>
            <a:spLocks noGrp="1"/>
          </p:cNvSpPr>
          <p:nvPr>
            <p:ph idx="1"/>
          </p:nvPr>
        </p:nvSpPr>
        <p:spPr>
          <a:xfrm>
            <a:off x="860195" y="1015933"/>
            <a:ext cx="10471609" cy="3880773"/>
          </a:xfrm>
        </p:spPr>
        <p:txBody>
          <a:bodyPr>
            <a:noAutofit/>
          </a:bodyPr>
          <a:lstStyle/>
          <a:p>
            <a:pPr algn="just">
              <a:lnSpc>
                <a:spcPct val="150000"/>
              </a:lnSpc>
              <a:buClr>
                <a:schemeClr val="tx1"/>
              </a:buClr>
              <a:buSzPct val="10000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Technology is transforming education and skill development with innovative tools that enhance learning experiences.</a:t>
            </a:r>
          </a:p>
          <a:p>
            <a:pPr algn="just">
              <a:lnSpc>
                <a:spcPct val="150000"/>
              </a:lnSpc>
              <a:buClr>
                <a:schemeClr val="tx1"/>
              </a:buClr>
              <a:buSzPct val="10000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Online learning platforms offer flexibility, accessibility, and scalability, enabling self-paced learning for students and professionals.</a:t>
            </a:r>
          </a:p>
          <a:p>
            <a:pPr algn="just">
              <a:lnSpc>
                <a:spcPct val="150000"/>
              </a:lnSpc>
              <a:buClr>
                <a:schemeClr val="tx1"/>
              </a:buClr>
              <a:buSzPct val="10000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Traditional paper-based quizzes are inefficient, error-prone, and require manual grading, increasing educators' workload.</a:t>
            </a:r>
          </a:p>
          <a:p>
            <a:pPr algn="just">
              <a:lnSpc>
                <a:spcPct val="150000"/>
              </a:lnSpc>
              <a:buClr>
                <a:schemeClr val="tx1"/>
              </a:buClr>
              <a:buSzPct val="10000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Automated quiz systems improve efficiency, accuracy, and provide instant feedback to learners.</a:t>
            </a:r>
          </a:p>
          <a:p>
            <a:pPr algn="just">
              <a:lnSpc>
                <a:spcPct val="150000"/>
              </a:lnSpc>
              <a:buClr>
                <a:schemeClr val="tx1"/>
              </a:buClr>
              <a:buSzPct val="10000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Real-time analytics help educators make data-driven decisions to enhance teaching </a:t>
            </a:r>
            <a:r>
              <a:rPr lang="en-US" dirty="0" err="1">
                <a:solidFill>
                  <a:schemeClr val="tx1"/>
                </a:solidFill>
                <a:latin typeface="Times New Roman" panose="02020603050405020304" pitchFamily="18" charset="0"/>
                <a:cs typeface="Times New Roman" panose="02020603050405020304" pitchFamily="18" charset="0"/>
              </a:rPr>
              <a:t>strategies.Secure</a:t>
            </a:r>
            <a:r>
              <a:rPr lang="en-US" dirty="0">
                <a:solidFill>
                  <a:schemeClr val="tx1"/>
                </a:solidFill>
                <a:latin typeface="Times New Roman" panose="02020603050405020304" pitchFamily="18" charset="0"/>
                <a:cs typeface="Times New Roman" panose="02020603050405020304" pitchFamily="18" charset="0"/>
              </a:rPr>
              <a:t> authentication mechanisms ensure data privacy and user security.</a:t>
            </a:r>
          </a:p>
          <a:p>
            <a:pPr algn="just">
              <a:lnSpc>
                <a:spcPct val="150000"/>
              </a:lnSpc>
              <a:buClr>
                <a:schemeClr val="tx1"/>
              </a:buClr>
              <a:buSzPct val="10000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Web-based platforms enable learners to access educational resources anytime, anywhere, making learning more convenient and effective.</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0735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EF0A41-307E-11B4-AF11-814B1BBAD28F}"/>
              </a:ext>
            </a:extLst>
          </p:cNvPr>
          <p:cNvSpPr>
            <a:spLocks noGrp="1"/>
          </p:cNvSpPr>
          <p:nvPr>
            <p:ph idx="1"/>
          </p:nvPr>
        </p:nvSpPr>
        <p:spPr>
          <a:xfrm>
            <a:off x="1283616" y="502902"/>
            <a:ext cx="9624767" cy="5852195"/>
          </a:xfrm>
        </p:spPr>
        <p:txBody>
          <a:bodyPr>
            <a:normAutofit fontScale="85000" lnSpcReduction="10000"/>
          </a:bodyPr>
          <a:lstStyle/>
          <a:p>
            <a:pPr algn="just">
              <a:lnSpc>
                <a:spcPct val="160000"/>
              </a:lnSpc>
              <a:buClrTx/>
              <a:buFont typeface="Wingdings" panose="05000000000000000000" pitchFamily="2" charset="2"/>
              <a:buChar char="Ø"/>
            </a:pPr>
            <a:r>
              <a:rPr lang="en-IN" sz="2000" b="1" dirty="0">
                <a:solidFill>
                  <a:schemeClr val="tx1"/>
                </a:solidFill>
                <a:latin typeface="Times New Roman" panose="02020603050405020304" pitchFamily="18" charset="0"/>
                <a:cs typeface="Times New Roman" panose="02020603050405020304" pitchFamily="18" charset="0"/>
              </a:rPr>
              <a:t>Motivation:</a:t>
            </a:r>
          </a:p>
          <a:p>
            <a:pPr algn="just">
              <a:lnSpc>
                <a:spcPct val="160000"/>
              </a:lnSpc>
              <a:buClrTx/>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The increasing demand for digital learning and assessment tools has highlighted the need for an efficient, intelligent, and automated quiz system. </a:t>
            </a:r>
          </a:p>
          <a:p>
            <a:pPr algn="just">
              <a:lnSpc>
                <a:spcPct val="160000"/>
              </a:lnSpc>
              <a:buClrTx/>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Traditional e-quiz systems require manual question creation, limiting scalability and adaptability. </a:t>
            </a:r>
          </a:p>
          <a:p>
            <a:pPr algn="just">
              <a:lnSpc>
                <a:spcPct val="160000"/>
              </a:lnSpc>
              <a:buClrTx/>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Additionally, many existing platforms lack personalization, real-time feedback, and intelligent question generation. </a:t>
            </a:r>
          </a:p>
          <a:p>
            <a:pPr algn="just">
              <a:lnSpc>
                <a:spcPct val="160000"/>
              </a:lnSpc>
              <a:buClrTx/>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The integration of AI into e-quiz systems can address these limitations by automating quiz creation.</a:t>
            </a:r>
          </a:p>
          <a:p>
            <a:pPr algn="just">
              <a:lnSpc>
                <a:spcPct val="160000"/>
              </a:lnSpc>
              <a:buClrTx/>
              <a:buFont typeface="Wingdings" panose="05000000000000000000" pitchFamily="2" charset="2"/>
              <a:buChar char="Ø"/>
            </a:pPr>
            <a:r>
              <a:rPr lang="en-US" sz="2000" b="1" dirty="0">
                <a:solidFill>
                  <a:schemeClr val="tx1"/>
                </a:solidFill>
                <a:latin typeface="Times New Roman" panose="02020603050405020304" pitchFamily="18" charset="0"/>
                <a:cs typeface="Times New Roman" panose="02020603050405020304" pitchFamily="18" charset="0"/>
              </a:rPr>
              <a:t>Objectives:</a:t>
            </a:r>
          </a:p>
          <a:p>
            <a:pPr algn="just">
              <a:lnSpc>
                <a:spcPct val="160000"/>
              </a:lnSpc>
              <a:buClrTx/>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To develop an AI chatbot capable of generating quiz questions dynamically.</a:t>
            </a:r>
          </a:p>
          <a:p>
            <a:pPr algn="just">
              <a:lnSpc>
                <a:spcPct val="160000"/>
              </a:lnSpc>
              <a:buClrTx/>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To provide an interface for quiz creation, modification, and deletion by administrators.</a:t>
            </a:r>
          </a:p>
          <a:p>
            <a:pPr algn="just">
              <a:lnSpc>
                <a:spcPct val="160000"/>
              </a:lnSpc>
              <a:buClrTx/>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To ensure secure login, user progress tracking, and leaderboard functionality.</a:t>
            </a:r>
            <a:endParaRPr lang="en-IN" sz="2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9943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4BC60-B648-37A4-6D3B-9835A480EAB3}"/>
              </a:ext>
            </a:extLst>
          </p:cNvPr>
          <p:cNvSpPr>
            <a:spLocks noGrp="1"/>
          </p:cNvSpPr>
          <p:nvPr>
            <p:ph type="title"/>
          </p:nvPr>
        </p:nvSpPr>
        <p:spPr>
          <a:xfrm>
            <a:off x="376767" y="251791"/>
            <a:ext cx="11438466" cy="672548"/>
          </a:xfrm>
        </p:spPr>
        <p:txBody>
          <a:bodyPr/>
          <a:lstStyle/>
          <a:p>
            <a:pPr algn="ctr"/>
            <a:r>
              <a:rPr lang="en-IN" sz="3600" b="1" dirty="0">
                <a:solidFill>
                  <a:schemeClr val="tx1"/>
                </a:solidFill>
                <a:latin typeface="Times New Roman" panose="02020603050405020304" pitchFamily="18" charset="0"/>
                <a:cs typeface="Times New Roman" panose="02020603050405020304" pitchFamily="18" charset="0"/>
              </a:rPr>
              <a:t>LITERATURE SURVEY OF THE EXISTING SYSTEM</a:t>
            </a:r>
            <a:endParaRPr lang="en-IN" dirty="0"/>
          </a:p>
        </p:txBody>
      </p:sp>
      <p:sp>
        <p:nvSpPr>
          <p:cNvPr id="13" name="TextBox 12">
            <a:extLst>
              <a:ext uri="{FF2B5EF4-FFF2-40B4-BE49-F238E27FC236}">
                <a16:creationId xmlns:a16="http://schemas.microsoft.com/office/drawing/2014/main" id="{F51699F4-2BAD-8E8D-C3C1-587D569CDE1C}"/>
              </a:ext>
            </a:extLst>
          </p:cNvPr>
          <p:cNvSpPr txBox="1"/>
          <p:nvPr/>
        </p:nvSpPr>
        <p:spPr>
          <a:xfrm>
            <a:off x="594691" y="1065742"/>
            <a:ext cx="11002617" cy="5974969"/>
          </a:xfrm>
          <a:prstGeom prst="rect">
            <a:avLst/>
          </a:prstGeom>
          <a:noFill/>
        </p:spPr>
        <p:txBody>
          <a:bodyPr wrap="square">
            <a:spAutoFit/>
          </a:bodyPr>
          <a:lstStyle/>
          <a:p>
            <a:pPr algn="just">
              <a:lnSpc>
                <a:spcPct val="150000"/>
              </a:lnSpc>
            </a:pPr>
            <a:r>
              <a:rPr lang="en-US" sz="1700" b="1" dirty="0">
                <a:latin typeface="Times New Roman" panose="02020603050405020304" pitchFamily="18" charset="0"/>
                <a:cs typeface="Times New Roman" panose="02020603050405020304" pitchFamily="18" charset="0"/>
              </a:rPr>
              <a:t>[1] “AI-BASED QUIZ SYSTEM FOR PERSONALISED LEARNING”, Xia Wang, Silke </a:t>
            </a:r>
            <a:r>
              <a:rPr lang="en-US" sz="1700" b="1" dirty="0" err="1">
                <a:latin typeface="Times New Roman" panose="02020603050405020304" pitchFamily="18" charset="0"/>
                <a:cs typeface="Times New Roman" panose="02020603050405020304" pitchFamily="18" charset="0"/>
              </a:rPr>
              <a:t>Wrede,Lars</a:t>
            </a:r>
            <a:r>
              <a:rPr lang="en-US" sz="1700" b="1" dirty="0">
                <a:latin typeface="Times New Roman" panose="02020603050405020304" pitchFamily="18" charset="0"/>
                <a:cs typeface="Times New Roman" panose="02020603050405020304" pitchFamily="18" charset="0"/>
              </a:rPr>
              <a:t> van Rijn, Joachim </a:t>
            </a:r>
            <a:r>
              <a:rPr lang="en-US" sz="1700" b="1" dirty="0" err="1">
                <a:latin typeface="Times New Roman" panose="02020603050405020304" pitchFamily="18" charset="0"/>
                <a:cs typeface="Times New Roman" panose="02020603050405020304" pitchFamily="18" charset="0"/>
              </a:rPr>
              <a:t>Wöhrle</a:t>
            </a:r>
            <a:r>
              <a:rPr lang="en-US" sz="1700" b="1" dirty="0">
                <a:latin typeface="Times New Roman" panose="02020603050405020304" pitchFamily="18" charset="0"/>
                <a:cs typeface="Times New Roman" panose="02020603050405020304" pitchFamily="18" charset="0"/>
              </a:rPr>
              <a:t> in 16th annual International Conference of Education, Research and Innovation, November 2024. </a:t>
            </a:r>
          </a:p>
          <a:p>
            <a:pPr algn="just">
              <a:lnSpc>
                <a:spcPct val="150000"/>
              </a:lnSpc>
            </a:pPr>
            <a:r>
              <a:rPr lang="en-US" sz="1700" dirty="0">
                <a:latin typeface="Times New Roman" panose="02020603050405020304" pitchFamily="18" charset="0"/>
                <a:cs typeface="Times New Roman" panose="02020603050405020304" pitchFamily="18" charset="0"/>
              </a:rPr>
              <a:t>The AI-Based Quiz System for Personalized Learning uses Python, Neural Networks (NNs), and NLP tools like BERT, </a:t>
            </a:r>
            <a:r>
              <a:rPr lang="en-US" sz="1700" dirty="0" err="1">
                <a:latin typeface="Times New Roman" panose="02020603050405020304" pitchFamily="18" charset="0"/>
                <a:cs typeface="Times New Roman" panose="02020603050405020304" pitchFamily="18" charset="0"/>
              </a:rPr>
              <a:t>RoBERTa</a:t>
            </a:r>
            <a:r>
              <a:rPr lang="en-US" sz="1700" dirty="0">
                <a:latin typeface="Times New Roman" panose="02020603050405020304" pitchFamily="18" charset="0"/>
                <a:cs typeface="Times New Roman" panose="02020603050405020304" pitchFamily="18" charset="0"/>
              </a:rPr>
              <a:t>, and OCR for quiz generation. A Knowledge Graph Manager (KGM) tracks learning progress, while an LMS plug-in (e.g., Moodle) integrates personalized quizzes. ML models adapt questions based on learners' knowledge levels.</a:t>
            </a:r>
          </a:p>
          <a:p>
            <a:pPr algn="just">
              <a:lnSpc>
                <a:spcPct val="150000"/>
              </a:lnSpc>
            </a:pPr>
            <a:endParaRPr lang="en-US" sz="1700" dirty="0">
              <a:latin typeface="Times New Roman" panose="02020603050405020304" pitchFamily="18" charset="0"/>
              <a:cs typeface="Times New Roman" panose="02020603050405020304" pitchFamily="18" charset="0"/>
            </a:endParaRPr>
          </a:p>
          <a:p>
            <a:pPr algn="just">
              <a:lnSpc>
                <a:spcPct val="150000"/>
              </a:lnSpc>
            </a:pPr>
            <a:r>
              <a:rPr lang="en-US" sz="1700" b="1" dirty="0">
                <a:latin typeface="Times New Roman" panose="02020603050405020304" pitchFamily="18" charset="0"/>
                <a:cs typeface="Times New Roman" panose="02020603050405020304" pitchFamily="18" charset="0"/>
              </a:rPr>
              <a:t>[2] “AUTOMATIC GENERATION OF MULTIPLE CHOICE QUESTIONS FOR E-ASSESSMENT”:  A. </a:t>
            </a:r>
            <a:r>
              <a:rPr lang="en-US" sz="1700" b="1" dirty="0" err="1">
                <a:latin typeface="Times New Roman" panose="02020603050405020304" pitchFamily="18" charset="0"/>
                <a:cs typeface="Times New Roman" panose="02020603050405020304" pitchFamily="18" charset="0"/>
              </a:rPr>
              <a:t>Santhanavijayan</a:t>
            </a:r>
            <a:r>
              <a:rPr lang="en-US" sz="1700" b="1" dirty="0">
                <a:latin typeface="Times New Roman" panose="02020603050405020304" pitchFamily="18" charset="0"/>
                <a:cs typeface="Times New Roman" panose="02020603050405020304" pitchFamily="18" charset="0"/>
              </a:rPr>
              <a:t>*, S.R. Balasundaram, S. Hari Narayanan, S. Vinod Kumar and V. Vignesh Prasad in International Journal of Signal and Imaging Systems Engineering · January 2017.</a:t>
            </a:r>
          </a:p>
          <a:p>
            <a:pPr algn="just">
              <a:lnSpc>
                <a:spcPct val="150000"/>
              </a:lnSpc>
            </a:pPr>
            <a:r>
              <a:rPr lang="en-US" sz="1700" dirty="0">
                <a:latin typeface="Times New Roman" panose="02020603050405020304" pitchFamily="18" charset="0"/>
                <a:cs typeface="Times New Roman" panose="02020603050405020304" pitchFamily="18" charset="0"/>
              </a:rPr>
              <a:t>The Automatic MCQ Generation System uses Python with Natural Language Processing (NLP) techniques like POS tagging, ontology-based analysis, and dependency parsing. It employs fireflies-based preference learning for sentence selection, hypernyms and hyponyms for distractor generation, and Google Search API for extracting relevant content. The system integrates machine learning models to improve MCQ quality and analogy question generation.</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3228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76320F-7AB7-B9A2-2340-9361050AC68A}"/>
              </a:ext>
            </a:extLst>
          </p:cNvPr>
          <p:cNvSpPr>
            <a:spLocks noGrp="1"/>
          </p:cNvSpPr>
          <p:nvPr>
            <p:ph idx="1"/>
          </p:nvPr>
        </p:nvSpPr>
        <p:spPr>
          <a:xfrm>
            <a:off x="922734" y="628528"/>
            <a:ext cx="10346531" cy="3880773"/>
          </a:xfrm>
        </p:spPr>
        <p:txBody>
          <a:bodyPr>
            <a:normAutofit fontScale="25000" lnSpcReduction="20000"/>
          </a:bodyPr>
          <a:lstStyle/>
          <a:p>
            <a:pPr marL="0" indent="0" algn="just">
              <a:lnSpc>
                <a:spcPct val="170000"/>
              </a:lnSpc>
              <a:buNone/>
            </a:pPr>
            <a:r>
              <a:rPr lang="en-IN" sz="6800" b="1" dirty="0">
                <a:solidFill>
                  <a:schemeClr val="tx1"/>
                </a:solidFill>
                <a:latin typeface="Times New Roman" panose="02020603050405020304" pitchFamily="18" charset="0"/>
                <a:cs typeface="Times New Roman" panose="02020603050405020304" pitchFamily="18" charset="0"/>
              </a:rPr>
              <a:t>[3] “GENERATING AI LITERACY MCQS: A MULTI-AGENT LLM APPROACH”: Jiayi Wang, </a:t>
            </a:r>
            <a:r>
              <a:rPr lang="en-IN" sz="6800" b="1" dirty="0" err="1">
                <a:solidFill>
                  <a:schemeClr val="tx1"/>
                </a:solidFill>
                <a:latin typeface="Times New Roman" panose="02020603050405020304" pitchFamily="18" charset="0"/>
                <a:cs typeface="Times New Roman" panose="02020603050405020304" pitchFamily="18" charset="0"/>
              </a:rPr>
              <a:t>Ruiwei</a:t>
            </a:r>
            <a:r>
              <a:rPr lang="en-IN" sz="6800" b="1" dirty="0">
                <a:solidFill>
                  <a:schemeClr val="tx1"/>
                </a:solidFill>
                <a:latin typeface="Times New Roman" panose="02020603050405020304" pitchFamily="18" charset="0"/>
                <a:cs typeface="Times New Roman" panose="02020603050405020304" pitchFamily="18" charset="0"/>
              </a:rPr>
              <a:t> Xiao, Ying-Jui Tseng, November 2024.</a:t>
            </a:r>
          </a:p>
          <a:p>
            <a:pPr marL="0" indent="0" algn="just">
              <a:lnSpc>
                <a:spcPct val="170000"/>
              </a:lnSpc>
              <a:buNone/>
            </a:pPr>
            <a:r>
              <a:rPr lang="en-IN" sz="6800" dirty="0">
                <a:solidFill>
                  <a:schemeClr val="tx1"/>
                </a:solidFill>
                <a:latin typeface="Times New Roman" panose="02020603050405020304" pitchFamily="18" charset="0"/>
                <a:cs typeface="Times New Roman" panose="02020603050405020304" pitchFamily="18" charset="0"/>
              </a:rPr>
              <a:t>The AI Literacy MCQ Generation System uses </a:t>
            </a:r>
            <a:r>
              <a:rPr lang="en-IN" sz="6800" dirty="0" err="1">
                <a:solidFill>
                  <a:schemeClr val="tx1"/>
                </a:solidFill>
                <a:latin typeface="Times New Roman" panose="02020603050405020304" pitchFamily="18" charset="0"/>
                <a:cs typeface="Times New Roman" panose="02020603050405020304" pitchFamily="18" charset="0"/>
              </a:rPr>
              <a:t>LangGraph</a:t>
            </a:r>
            <a:r>
              <a:rPr lang="en-IN" sz="6800" dirty="0">
                <a:solidFill>
                  <a:schemeClr val="tx1"/>
                </a:solidFill>
                <a:latin typeface="Times New Roman" panose="02020603050405020304" pitchFamily="18" charset="0"/>
                <a:cs typeface="Times New Roman" panose="02020603050405020304" pitchFamily="18" charset="0"/>
              </a:rPr>
              <a:t> framework with OpenAI’s GPT-4o-mini for question generation. It employs multi-agent workflows including a Generator Agent, Language Critique Agent, and IWF Critique Agent for refining MCQs. The system aligns questions with Bloom’s Taxonomy and evaluates quality using rule-based and LLM-based validation.</a:t>
            </a:r>
          </a:p>
          <a:p>
            <a:pPr marL="0" indent="0" algn="just">
              <a:lnSpc>
                <a:spcPct val="170000"/>
              </a:lnSpc>
              <a:buNone/>
            </a:pPr>
            <a:endParaRPr lang="en-IN" sz="6800" dirty="0">
              <a:solidFill>
                <a:schemeClr val="tx1"/>
              </a:solidFill>
              <a:latin typeface="Times New Roman" panose="02020603050405020304" pitchFamily="18" charset="0"/>
              <a:cs typeface="Times New Roman" panose="02020603050405020304" pitchFamily="18" charset="0"/>
            </a:endParaRPr>
          </a:p>
          <a:p>
            <a:pPr marL="0" indent="0" algn="just">
              <a:lnSpc>
                <a:spcPct val="170000"/>
              </a:lnSpc>
              <a:buNone/>
            </a:pPr>
            <a:r>
              <a:rPr lang="en-IN" sz="6800" b="1" dirty="0">
                <a:solidFill>
                  <a:schemeClr val="tx1"/>
                </a:solidFill>
                <a:latin typeface="Times New Roman" panose="02020603050405020304" pitchFamily="18" charset="0"/>
                <a:cs typeface="Times New Roman" panose="02020603050405020304" pitchFamily="18" charset="0"/>
              </a:rPr>
              <a:t>[4] “DESIGN OF ONLINE QUIZ SYSTEM FOR PRACTICE &amp; ASSESSMENT DURING COVID-19”, </a:t>
            </a:r>
            <a:r>
              <a:rPr lang="en-IN" sz="6800" b="1" dirty="0" err="1">
                <a:solidFill>
                  <a:schemeClr val="tx1"/>
                </a:solidFill>
                <a:latin typeface="Times New Roman" panose="02020603050405020304" pitchFamily="18" charset="0"/>
                <a:cs typeface="Times New Roman" panose="02020603050405020304" pitchFamily="18" charset="0"/>
              </a:rPr>
              <a:t>Kapeel</a:t>
            </a:r>
            <a:r>
              <a:rPr lang="en-IN" sz="6800" b="1" dirty="0">
                <a:solidFill>
                  <a:schemeClr val="tx1"/>
                </a:solidFill>
                <a:latin typeface="Times New Roman" panose="02020603050405020304" pitchFamily="18" charset="0"/>
                <a:cs typeface="Times New Roman" panose="02020603050405020304" pitchFamily="18" charset="0"/>
              </a:rPr>
              <a:t> Dev,  Rajesh Kumar, Imran </a:t>
            </a:r>
            <a:r>
              <a:rPr lang="en-IN" sz="6800" b="1" dirty="0" err="1">
                <a:solidFill>
                  <a:schemeClr val="tx1"/>
                </a:solidFill>
                <a:latin typeface="Times New Roman" panose="02020603050405020304" pitchFamily="18" charset="0"/>
                <a:cs typeface="Times New Roman" panose="02020603050405020304" pitchFamily="18" charset="0"/>
              </a:rPr>
              <a:t>saeed</a:t>
            </a:r>
            <a:r>
              <a:rPr lang="en-IN" sz="6800" b="1" dirty="0">
                <a:solidFill>
                  <a:schemeClr val="tx1"/>
                </a:solidFill>
                <a:latin typeface="Times New Roman" panose="02020603050405020304" pitchFamily="18" charset="0"/>
                <a:cs typeface="Times New Roman" panose="02020603050405020304" pitchFamily="18" charset="0"/>
              </a:rPr>
              <a:t>, Farooq Iqbal, Khalid Hussain, S. Madeeha Zaidi, M. Waqas Pasha6 in International Journal of Advanced Trends in Computer Science and Engineering, August 2021.</a:t>
            </a:r>
          </a:p>
          <a:p>
            <a:pPr marL="0" indent="0" algn="just">
              <a:lnSpc>
                <a:spcPct val="170000"/>
              </a:lnSpc>
              <a:buNone/>
            </a:pPr>
            <a:r>
              <a:rPr lang="en-IN" sz="6800" dirty="0">
                <a:solidFill>
                  <a:schemeClr val="tx1"/>
                </a:solidFill>
                <a:latin typeface="Times New Roman" panose="02020603050405020304" pitchFamily="18" charset="0"/>
                <a:cs typeface="Times New Roman" panose="02020603050405020304" pitchFamily="18" charset="0"/>
              </a:rPr>
              <a:t>This Online Quiz System is built using PHP, HTML, CSS, JavaScript, </a:t>
            </a:r>
            <a:r>
              <a:rPr lang="en-IN" sz="6800" dirty="0" err="1">
                <a:solidFill>
                  <a:schemeClr val="tx1"/>
                </a:solidFill>
                <a:latin typeface="Times New Roman" panose="02020603050405020304" pitchFamily="18" charset="0"/>
                <a:cs typeface="Times New Roman" panose="02020603050405020304" pitchFamily="18" charset="0"/>
              </a:rPr>
              <a:t>JQuery</a:t>
            </a:r>
            <a:r>
              <a:rPr lang="en-IN" sz="6800" dirty="0">
                <a:solidFill>
                  <a:schemeClr val="tx1"/>
                </a:solidFill>
                <a:latin typeface="Times New Roman" panose="02020603050405020304" pitchFamily="18" charset="0"/>
                <a:cs typeface="Times New Roman" panose="02020603050405020304" pitchFamily="18" charset="0"/>
              </a:rPr>
              <a:t>, and AJAX for frontend and interactivity. MySQL is used for database management, while Visual Studio serves as the development environment. The system follows an Iterative Model and supports CRUD operations for quiz management.</a:t>
            </a:r>
          </a:p>
          <a:p>
            <a:pPr marL="0" indent="0" algn="just">
              <a:lnSpc>
                <a:spcPct val="150000"/>
              </a:lnSpc>
              <a:buNone/>
            </a:pPr>
            <a:endParaRPr lang="en-IN" sz="1700" b="1" dirty="0">
              <a:solidFill>
                <a:schemeClr val="tx1"/>
              </a:solidFill>
              <a:latin typeface="Times New Roman" panose="02020603050405020304" pitchFamily="18" charset="0"/>
              <a:cs typeface="Times New Roman" panose="02020603050405020304" pitchFamily="18" charset="0"/>
            </a:endParaRPr>
          </a:p>
          <a:p>
            <a:pPr marL="0" indent="0" algn="just">
              <a:lnSpc>
                <a:spcPct val="150000"/>
              </a:lnSpc>
              <a:buNone/>
            </a:pPr>
            <a:endParaRPr lang="en-IN" sz="1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9891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126495-AE78-B1E2-99D0-EBB500595C64}"/>
              </a:ext>
            </a:extLst>
          </p:cNvPr>
          <p:cNvSpPr>
            <a:spLocks noGrp="1"/>
          </p:cNvSpPr>
          <p:nvPr>
            <p:ph idx="1"/>
          </p:nvPr>
        </p:nvSpPr>
        <p:spPr>
          <a:xfrm>
            <a:off x="699053" y="654965"/>
            <a:ext cx="10793894" cy="3880773"/>
          </a:xfrm>
        </p:spPr>
        <p:txBody>
          <a:bodyPr>
            <a:normAutofit fontScale="25000" lnSpcReduction="20000"/>
          </a:bodyPr>
          <a:lstStyle/>
          <a:p>
            <a:pPr marL="0" indent="0" algn="just">
              <a:lnSpc>
                <a:spcPct val="170000"/>
              </a:lnSpc>
              <a:buNone/>
            </a:pPr>
            <a:r>
              <a:rPr lang="en-IN" sz="6800" b="1" dirty="0">
                <a:solidFill>
                  <a:schemeClr val="tx1"/>
                </a:solidFill>
                <a:latin typeface="Times New Roman" panose="02020603050405020304" pitchFamily="18" charset="0"/>
                <a:cs typeface="Times New Roman" panose="02020603050405020304" pitchFamily="18" charset="0"/>
              </a:rPr>
              <a:t>[5] “QUIZME: AN AI-POWERED QUIZ GENERATION  SYSTEM”, Prof. Abhishek </a:t>
            </a:r>
            <a:r>
              <a:rPr lang="en-IN" sz="6800" b="1" dirty="0" err="1">
                <a:solidFill>
                  <a:schemeClr val="tx1"/>
                </a:solidFill>
                <a:latin typeface="Times New Roman" panose="02020603050405020304" pitchFamily="18" charset="0"/>
                <a:cs typeface="Times New Roman" panose="02020603050405020304" pitchFamily="18" charset="0"/>
              </a:rPr>
              <a:t>Shivhare</a:t>
            </a:r>
            <a:r>
              <a:rPr lang="en-IN" sz="6800" b="1" dirty="0">
                <a:solidFill>
                  <a:schemeClr val="tx1"/>
                </a:solidFill>
                <a:latin typeface="Times New Roman" panose="02020603050405020304" pitchFamily="18" charset="0"/>
                <a:cs typeface="Times New Roman" panose="02020603050405020304" pitchFamily="18" charset="0"/>
              </a:rPr>
              <a:t>, Rohan Kumar Saini, Rishabh, Harshit Mahavar, Mukul Sharma in International Journal of Novel </a:t>
            </a:r>
            <a:r>
              <a:rPr lang="en-IN" sz="6800" b="1" dirty="0" err="1">
                <a:solidFill>
                  <a:schemeClr val="tx1"/>
                </a:solidFill>
                <a:latin typeface="Times New Roman" panose="02020603050405020304" pitchFamily="18" charset="0"/>
                <a:cs typeface="Times New Roman" panose="02020603050405020304" pitchFamily="18" charset="0"/>
              </a:rPr>
              <a:t>Reasearch</a:t>
            </a:r>
            <a:r>
              <a:rPr lang="en-IN" sz="6800" b="1" dirty="0">
                <a:solidFill>
                  <a:schemeClr val="tx1"/>
                </a:solidFill>
                <a:latin typeface="Times New Roman" panose="02020603050405020304" pitchFamily="18" charset="0"/>
                <a:cs typeface="Times New Roman" panose="02020603050405020304" pitchFamily="18" charset="0"/>
              </a:rPr>
              <a:t> and Development , April 2024.</a:t>
            </a:r>
          </a:p>
          <a:p>
            <a:pPr marL="0" indent="0" algn="just">
              <a:lnSpc>
                <a:spcPct val="170000"/>
              </a:lnSpc>
              <a:buNone/>
            </a:pPr>
            <a:r>
              <a:rPr lang="en-IN" sz="6800" dirty="0">
                <a:solidFill>
                  <a:schemeClr val="tx1"/>
                </a:solidFill>
                <a:latin typeface="Times New Roman" panose="02020603050405020304" pitchFamily="18" charset="0"/>
                <a:cs typeface="Times New Roman" panose="02020603050405020304" pitchFamily="18" charset="0"/>
              </a:rPr>
              <a:t>The </a:t>
            </a:r>
            <a:r>
              <a:rPr lang="en-IN" sz="6800" dirty="0" err="1">
                <a:solidFill>
                  <a:schemeClr val="tx1"/>
                </a:solidFill>
                <a:latin typeface="Times New Roman" panose="02020603050405020304" pitchFamily="18" charset="0"/>
                <a:cs typeface="Times New Roman" panose="02020603050405020304" pitchFamily="18" charset="0"/>
              </a:rPr>
              <a:t>QuizMe</a:t>
            </a:r>
            <a:r>
              <a:rPr lang="en-IN" sz="6800" dirty="0">
                <a:solidFill>
                  <a:schemeClr val="tx1"/>
                </a:solidFill>
                <a:latin typeface="Times New Roman" panose="02020603050405020304" pitchFamily="18" charset="0"/>
                <a:cs typeface="Times New Roman" panose="02020603050405020304" pitchFamily="18" charset="0"/>
              </a:rPr>
              <a:t> system uses Next.js, Tailwind CSS, and Shards UI for the frontend, while Node.js with Express.js handles the backend. PostgreSQL (managed via Prisma) stores data, and the OpenAI API generates AI-powered quizzes. JWT ensures authentication, and </a:t>
            </a:r>
            <a:r>
              <a:rPr lang="en-IN" sz="6800" dirty="0" err="1">
                <a:solidFill>
                  <a:schemeClr val="tx1"/>
                </a:solidFill>
                <a:latin typeface="Times New Roman" panose="02020603050405020304" pitchFamily="18" charset="0"/>
                <a:cs typeface="Times New Roman" panose="02020603050405020304" pitchFamily="18" charset="0"/>
              </a:rPr>
              <a:t>bcrypt</a:t>
            </a:r>
            <a:r>
              <a:rPr lang="en-IN" sz="6800" dirty="0">
                <a:solidFill>
                  <a:schemeClr val="tx1"/>
                </a:solidFill>
                <a:latin typeface="Times New Roman" panose="02020603050405020304" pitchFamily="18" charset="0"/>
                <a:cs typeface="Times New Roman" panose="02020603050405020304" pitchFamily="18" charset="0"/>
              </a:rPr>
              <a:t> secures passwords.</a:t>
            </a:r>
          </a:p>
          <a:p>
            <a:pPr marL="0" indent="0" algn="just">
              <a:lnSpc>
                <a:spcPct val="170000"/>
              </a:lnSpc>
              <a:buNone/>
            </a:pPr>
            <a:endParaRPr lang="en-IN" sz="6800" dirty="0">
              <a:solidFill>
                <a:schemeClr val="tx1"/>
              </a:solidFill>
              <a:latin typeface="Times New Roman" panose="02020603050405020304" pitchFamily="18" charset="0"/>
              <a:cs typeface="Times New Roman" panose="02020603050405020304" pitchFamily="18" charset="0"/>
            </a:endParaRPr>
          </a:p>
          <a:p>
            <a:pPr marL="0" indent="0" algn="just">
              <a:lnSpc>
                <a:spcPct val="170000"/>
              </a:lnSpc>
              <a:buNone/>
            </a:pPr>
            <a:r>
              <a:rPr lang="en-IN" sz="6800" b="1" dirty="0">
                <a:solidFill>
                  <a:schemeClr val="tx1"/>
                </a:solidFill>
                <a:latin typeface="Times New Roman" panose="02020603050405020304" pitchFamily="18" charset="0"/>
                <a:cs typeface="Times New Roman" panose="02020603050405020304" pitchFamily="18" charset="0"/>
              </a:rPr>
              <a:t>[6] “AUTOMATIC MCQ GENERATION USING MACHINE LEARNING ALGORITHM” : Ganesh Wani, </a:t>
            </a:r>
            <a:r>
              <a:rPr lang="en-IN" sz="6800" b="1" dirty="0" err="1">
                <a:solidFill>
                  <a:schemeClr val="tx1"/>
                </a:solidFill>
                <a:latin typeface="Times New Roman" panose="02020603050405020304" pitchFamily="18" charset="0"/>
                <a:cs typeface="Times New Roman" panose="02020603050405020304" pitchFamily="18" charset="0"/>
              </a:rPr>
              <a:t>Kulashri</a:t>
            </a:r>
            <a:r>
              <a:rPr lang="en-IN" sz="6800" b="1" dirty="0">
                <a:solidFill>
                  <a:schemeClr val="tx1"/>
                </a:solidFill>
                <a:latin typeface="Times New Roman" panose="02020603050405020304" pitchFamily="18" charset="0"/>
                <a:cs typeface="Times New Roman" panose="02020603050405020304" pitchFamily="18" charset="0"/>
              </a:rPr>
              <a:t> Kale, Deep Kale , Shivam Shinde in  International Research Journal of Engineering and Technology, June 2024.</a:t>
            </a:r>
          </a:p>
          <a:p>
            <a:pPr marL="0" indent="0" algn="just">
              <a:lnSpc>
                <a:spcPct val="170000"/>
              </a:lnSpc>
              <a:buNone/>
            </a:pPr>
            <a:r>
              <a:rPr lang="en-IN" sz="6800" dirty="0">
                <a:solidFill>
                  <a:schemeClr val="tx1"/>
                </a:solidFill>
                <a:latin typeface="Times New Roman" panose="02020603050405020304" pitchFamily="18" charset="0"/>
                <a:cs typeface="Times New Roman" panose="02020603050405020304" pitchFamily="18" charset="0"/>
              </a:rPr>
              <a:t>The Automatic MCQ Generation System uses Python with Flask for the backend and React.js with Bootstrap for the frontend. NLTK, </a:t>
            </a:r>
            <a:r>
              <a:rPr lang="en-IN" sz="6800" dirty="0" err="1">
                <a:solidFill>
                  <a:schemeClr val="tx1"/>
                </a:solidFill>
                <a:latin typeface="Times New Roman" panose="02020603050405020304" pitchFamily="18" charset="0"/>
                <a:cs typeface="Times New Roman" panose="02020603050405020304" pitchFamily="18" charset="0"/>
              </a:rPr>
              <a:t>spaCy</a:t>
            </a:r>
            <a:r>
              <a:rPr lang="en-IN" sz="6800" dirty="0">
                <a:solidFill>
                  <a:schemeClr val="tx1"/>
                </a:solidFill>
                <a:latin typeface="Times New Roman" panose="02020603050405020304" pitchFamily="18" charset="0"/>
                <a:cs typeface="Times New Roman" panose="02020603050405020304" pitchFamily="18" charset="0"/>
              </a:rPr>
              <a:t>, BERT, and </a:t>
            </a:r>
            <a:r>
              <a:rPr lang="en-IN" sz="6800" dirty="0" err="1">
                <a:solidFill>
                  <a:schemeClr val="tx1"/>
                </a:solidFill>
                <a:latin typeface="Times New Roman" panose="02020603050405020304" pitchFamily="18" charset="0"/>
                <a:cs typeface="Times New Roman" panose="02020603050405020304" pitchFamily="18" charset="0"/>
              </a:rPr>
              <a:t>RoBERTa</a:t>
            </a:r>
            <a:r>
              <a:rPr lang="en-IN" sz="6800" dirty="0">
                <a:solidFill>
                  <a:schemeClr val="tx1"/>
                </a:solidFill>
                <a:latin typeface="Times New Roman" panose="02020603050405020304" pitchFamily="18" charset="0"/>
                <a:cs typeface="Times New Roman" panose="02020603050405020304" pitchFamily="18" charset="0"/>
              </a:rPr>
              <a:t> handle NLP tasks like text preprocessing, key information extraction, and distractor generation. K-Means Clustering helps in question selection, while PostgreSQL manages data storage.</a:t>
            </a:r>
            <a:endParaRPr lang="en-IN" sz="6800" dirty="0">
              <a:latin typeface="Times New Roman" panose="02020603050405020304" pitchFamily="18" charset="0"/>
              <a:cs typeface="Times New Roman" panose="02020603050405020304" pitchFamily="18" charset="0"/>
            </a:endParaRPr>
          </a:p>
          <a:p>
            <a:pPr marL="0" indent="0" algn="just">
              <a:lnSpc>
                <a:spcPct val="150000"/>
              </a:lnSpc>
              <a:buNone/>
            </a:pPr>
            <a:endParaRPr lang="en-IN" sz="1700" dirty="0">
              <a:latin typeface="Times New Roman" panose="02020603050405020304" pitchFamily="18" charset="0"/>
              <a:cs typeface="Times New Roman" panose="02020603050405020304" pitchFamily="18" charset="0"/>
            </a:endParaRPr>
          </a:p>
          <a:p>
            <a:pPr marL="0" indent="0" algn="just">
              <a:lnSpc>
                <a:spcPct val="150000"/>
              </a:lnSpc>
              <a:buNone/>
            </a:pPr>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3766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13DE82-F6BA-C4D6-34FE-1A34E91329B0}"/>
              </a:ext>
            </a:extLst>
          </p:cNvPr>
          <p:cNvSpPr>
            <a:spLocks noGrp="1"/>
          </p:cNvSpPr>
          <p:nvPr>
            <p:ph idx="1"/>
          </p:nvPr>
        </p:nvSpPr>
        <p:spPr>
          <a:xfrm>
            <a:off x="661447" y="547779"/>
            <a:ext cx="10869105" cy="3880773"/>
          </a:xfrm>
        </p:spPr>
        <p:txBody>
          <a:bodyPr>
            <a:normAutofit fontScale="25000" lnSpcReduction="20000"/>
          </a:bodyPr>
          <a:lstStyle/>
          <a:p>
            <a:pPr marL="0" indent="0" algn="just">
              <a:lnSpc>
                <a:spcPct val="170000"/>
              </a:lnSpc>
              <a:buNone/>
            </a:pPr>
            <a:r>
              <a:rPr lang="en-IN" sz="6800" b="1" dirty="0">
                <a:latin typeface="Times New Roman" panose="02020603050405020304" pitchFamily="18" charset="0"/>
                <a:cs typeface="Times New Roman" panose="02020603050405020304" pitchFamily="18" charset="0"/>
              </a:rPr>
              <a:t>[7] “MCQGEN: A LARGE LANGUAGE MODEL-DRIVEN MCQ GENERATOR FOR PERSONALIZED LEARNING”:  Ching Nam Hang,  Pei-duo Yu, Chee Wei Tan in Institute of Electrical and Electronics Engineers, June 2024.</a:t>
            </a:r>
          </a:p>
          <a:p>
            <a:pPr marL="0" indent="0" algn="just">
              <a:lnSpc>
                <a:spcPct val="170000"/>
              </a:lnSpc>
              <a:buNone/>
            </a:pPr>
            <a:r>
              <a:rPr lang="en-IN" sz="6800" dirty="0">
                <a:solidFill>
                  <a:schemeClr val="tx1"/>
                </a:solidFill>
                <a:latin typeface="Times New Roman" panose="02020603050405020304" pitchFamily="18" charset="0"/>
                <a:cs typeface="Times New Roman" panose="02020603050405020304" pitchFamily="18" charset="0"/>
              </a:rPr>
              <a:t>The </a:t>
            </a:r>
            <a:r>
              <a:rPr lang="en-IN" sz="6800" dirty="0" err="1">
                <a:solidFill>
                  <a:schemeClr val="tx1"/>
                </a:solidFill>
                <a:latin typeface="Times New Roman" panose="02020603050405020304" pitchFamily="18" charset="0"/>
                <a:cs typeface="Times New Roman" panose="02020603050405020304" pitchFamily="18" charset="0"/>
              </a:rPr>
              <a:t>MCQGen</a:t>
            </a:r>
            <a:r>
              <a:rPr lang="en-IN" sz="6800" dirty="0">
                <a:solidFill>
                  <a:schemeClr val="tx1"/>
                </a:solidFill>
                <a:latin typeface="Times New Roman" panose="02020603050405020304" pitchFamily="18" charset="0"/>
                <a:cs typeface="Times New Roman" panose="02020603050405020304" pitchFamily="18" charset="0"/>
              </a:rPr>
              <a:t> uses GPT-4 with Retrieval-Augmented Generation (RAG) for MCQ generation. It integrates Chain-of-Thought (</a:t>
            </a:r>
            <a:r>
              <a:rPr lang="en-IN" sz="6800" dirty="0" err="1">
                <a:solidFill>
                  <a:schemeClr val="tx1"/>
                </a:solidFill>
                <a:latin typeface="Times New Roman" panose="02020603050405020304" pitchFamily="18" charset="0"/>
                <a:cs typeface="Times New Roman" panose="02020603050405020304" pitchFamily="18" charset="0"/>
              </a:rPr>
              <a:t>CoT</a:t>
            </a:r>
            <a:r>
              <a:rPr lang="en-IN" sz="6800" dirty="0">
                <a:solidFill>
                  <a:schemeClr val="tx1"/>
                </a:solidFill>
                <a:latin typeface="Times New Roman" panose="02020603050405020304" pitchFamily="18" charset="0"/>
                <a:cs typeface="Times New Roman" panose="02020603050405020304" pitchFamily="18" charset="0"/>
              </a:rPr>
              <a:t>) and Self-Refine prompting for refining questions. The system leverages an external knowledge base and employs crowdsourcing-based feedback to enhance question quality.</a:t>
            </a:r>
          </a:p>
          <a:p>
            <a:pPr marL="0" indent="0" algn="just">
              <a:lnSpc>
                <a:spcPct val="170000"/>
              </a:lnSpc>
              <a:buNone/>
            </a:pPr>
            <a:endParaRPr lang="en-IN" sz="6800" dirty="0">
              <a:latin typeface="Times New Roman" panose="02020603050405020304" pitchFamily="18" charset="0"/>
              <a:cs typeface="Times New Roman" panose="02020603050405020304" pitchFamily="18" charset="0"/>
            </a:endParaRPr>
          </a:p>
          <a:p>
            <a:pPr marL="0" indent="0" algn="just">
              <a:lnSpc>
                <a:spcPct val="170000"/>
              </a:lnSpc>
              <a:buNone/>
            </a:pPr>
            <a:r>
              <a:rPr lang="en-IN" sz="6800" b="1" dirty="0">
                <a:latin typeface="Times New Roman" panose="02020603050405020304" pitchFamily="18" charset="0"/>
                <a:cs typeface="Times New Roman" panose="02020603050405020304" pitchFamily="18" charset="0"/>
              </a:rPr>
              <a:t>[8] “GENMCQPRO: AI-DRIVEN MCQ REVOLUTION”: Muralidharan A, Prem Raj, Rohan Vignesh S, Neyan AM,  Dr. S. Hemamalini in </a:t>
            </a:r>
            <a:r>
              <a:rPr lang="en-IN" sz="6800" b="1" dirty="0" err="1">
                <a:latin typeface="Times New Roman" panose="02020603050405020304" pitchFamily="18" charset="0"/>
                <a:cs typeface="Times New Roman" panose="02020603050405020304" pitchFamily="18" charset="0"/>
              </a:rPr>
              <a:t>Technix</a:t>
            </a:r>
            <a:r>
              <a:rPr lang="en-IN" sz="6800" b="1" dirty="0">
                <a:latin typeface="Times New Roman" panose="02020603050405020304" pitchFamily="18" charset="0"/>
                <a:cs typeface="Times New Roman" panose="02020603050405020304" pitchFamily="18" charset="0"/>
              </a:rPr>
              <a:t> International Journal for Engineering Research, July 2024.</a:t>
            </a:r>
          </a:p>
          <a:p>
            <a:pPr marL="0" indent="0" algn="just">
              <a:lnSpc>
                <a:spcPct val="170000"/>
              </a:lnSpc>
              <a:buNone/>
            </a:pPr>
            <a:r>
              <a:rPr lang="en-IN" sz="6800" dirty="0">
                <a:solidFill>
                  <a:schemeClr val="tx1"/>
                </a:solidFill>
                <a:latin typeface="Times New Roman" panose="02020603050405020304" pitchFamily="18" charset="0"/>
                <a:cs typeface="Times New Roman" panose="02020603050405020304" pitchFamily="18" charset="0"/>
              </a:rPr>
              <a:t>The </a:t>
            </a:r>
            <a:r>
              <a:rPr lang="en-IN" sz="6800" dirty="0" err="1">
                <a:solidFill>
                  <a:schemeClr val="tx1"/>
                </a:solidFill>
                <a:latin typeface="Times New Roman" panose="02020603050405020304" pitchFamily="18" charset="0"/>
                <a:cs typeface="Times New Roman" panose="02020603050405020304" pitchFamily="18" charset="0"/>
              </a:rPr>
              <a:t>GenMCQPro</a:t>
            </a:r>
            <a:r>
              <a:rPr lang="en-IN" sz="6800" dirty="0">
                <a:solidFill>
                  <a:schemeClr val="tx1"/>
                </a:solidFill>
                <a:latin typeface="Times New Roman" panose="02020603050405020304" pitchFamily="18" charset="0"/>
                <a:cs typeface="Times New Roman" panose="02020603050405020304" pitchFamily="18" charset="0"/>
              </a:rPr>
              <a:t> System uses T5 Transformer for question generation and sense2vec for semantic similarity analysis in distractor creation. It employs </a:t>
            </a:r>
            <a:r>
              <a:rPr lang="en-IN" sz="6800" dirty="0" err="1">
                <a:solidFill>
                  <a:schemeClr val="tx1"/>
                </a:solidFill>
                <a:latin typeface="Times New Roman" panose="02020603050405020304" pitchFamily="18" charset="0"/>
                <a:cs typeface="Times New Roman" panose="02020603050405020304" pitchFamily="18" charset="0"/>
              </a:rPr>
              <a:t>MultipartiteRank</a:t>
            </a:r>
            <a:r>
              <a:rPr lang="en-IN" sz="6800" dirty="0">
                <a:solidFill>
                  <a:schemeClr val="tx1"/>
                </a:solidFill>
                <a:latin typeface="Times New Roman" panose="02020603050405020304" pitchFamily="18" charset="0"/>
                <a:cs typeface="Times New Roman" panose="02020603050405020304" pitchFamily="18" charset="0"/>
              </a:rPr>
              <a:t> for keyword extraction, </a:t>
            </a:r>
            <a:r>
              <a:rPr lang="en-IN" sz="6800" dirty="0" err="1">
                <a:solidFill>
                  <a:schemeClr val="tx1"/>
                </a:solidFill>
                <a:latin typeface="Times New Roman" panose="02020603050405020304" pitchFamily="18" charset="0"/>
                <a:cs typeface="Times New Roman" panose="02020603050405020304" pitchFamily="18" charset="0"/>
              </a:rPr>
              <a:t>spaCy</a:t>
            </a:r>
            <a:r>
              <a:rPr lang="en-IN" sz="6800" dirty="0">
                <a:solidFill>
                  <a:schemeClr val="tx1"/>
                </a:solidFill>
                <a:latin typeface="Times New Roman" panose="02020603050405020304" pitchFamily="18" charset="0"/>
                <a:cs typeface="Times New Roman" panose="02020603050405020304" pitchFamily="18" charset="0"/>
              </a:rPr>
              <a:t> &amp; NLTK for tokenization, and </a:t>
            </a:r>
            <a:r>
              <a:rPr lang="en-IN" sz="6800" dirty="0" err="1">
                <a:solidFill>
                  <a:schemeClr val="tx1"/>
                </a:solidFill>
                <a:latin typeface="Times New Roman" panose="02020603050405020304" pitchFamily="18" charset="0"/>
                <a:cs typeface="Times New Roman" panose="02020603050405020304" pitchFamily="18" charset="0"/>
              </a:rPr>
              <a:t>PyTorch</a:t>
            </a:r>
            <a:r>
              <a:rPr lang="en-IN" sz="6800" dirty="0">
                <a:solidFill>
                  <a:schemeClr val="tx1"/>
                </a:solidFill>
                <a:latin typeface="Times New Roman" panose="02020603050405020304" pitchFamily="18" charset="0"/>
                <a:cs typeface="Times New Roman" panose="02020603050405020304" pitchFamily="18" charset="0"/>
              </a:rPr>
              <a:t> &amp; Transformers for model execution. The system integrates </a:t>
            </a:r>
            <a:r>
              <a:rPr lang="en-IN" sz="6800" dirty="0" err="1">
                <a:solidFill>
                  <a:schemeClr val="tx1"/>
                </a:solidFill>
                <a:latin typeface="Times New Roman" panose="02020603050405020304" pitchFamily="18" charset="0"/>
                <a:cs typeface="Times New Roman" panose="02020603050405020304" pitchFamily="18" charset="0"/>
              </a:rPr>
              <a:t>Levenshtein</a:t>
            </a:r>
            <a:r>
              <a:rPr lang="en-IN" sz="6800" dirty="0">
                <a:solidFill>
                  <a:schemeClr val="tx1"/>
                </a:solidFill>
                <a:latin typeface="Times New Roman" panose="02020603050405020304" pitchFamily="18" charset="0"/>
                <a:cs typeface="Times New Roman" panose="02020603050405020304" pitchFamily="18" charset="0"/>
              </a:rPr>
              <a:t> distance for text similarity and runs in a Python environment with NumPy, pandas, and </a:t>
            </a:r>
            <a:r>
              <a:rPr lang="en-IN" sz="6800" dirty="0" err="1">
                <a:solidFill>
                  <a:schemeClr val="tx1"/>
                </a:solidFill>
                <a:latin typeface="Times New Roman" panose="02020603050405020304" pitchFamily="18" charset="0"/>
                <a:cs typeface="Times New Roman" panose="02020603050405020304" pitchFamily="18" charset="0"/>
              </a:rPr>
              <a:t>flashtext</a:t>
            </a:r>
            <a:r>
              <a:rPr lang="en-IN" sz="6800" dirty="0">
                <a:solidFill>
                  <a:schemeClr val="tx1"/>
                </a:solidFill>
                <a:latin typeface="Times New Roman" panose="02020603050405020304" pitchFamily="18" charset="0"/>
                <a:cs typeface="Times New Roman" panose="02020603050405020304" pitchFamily="18" charset="0"/>
              </a:rPr>
              <a:t>.</a:t>
            </a:r>
          </a:p>
          <a:p>
            <a:pPr marL="0" indent="0" algn="just">
              <a:lnSpc>
                <a:spcPct val="150000"/>
              </a:lnSpc>
              <a:buNone/>
            </a:pPr>
            <a:endParaRPr lang="en-IN" sz="1700" b="1" dirty="0">
              <a:latin typeface="Times New Roman" panose="02020603050405020304" pitchFamily="18" charset="0"/>
              <a:cs typeface="Times New Roman" panose="02020603050405020304" pitchFamily="18" charset="0"/>
            </a:endParaRPr>
          </a:p>
          <a:p>
            <a:pPr marL="0" indent="0" algn="just">
              <a:lnSpc>
                <a:spcPct val="150000"/>
              </a:lnSpc>
              <a:buNone/>
            </a:pPr>
            <a:endParaRPr lang="en-IN" sz="17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305266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77B2C-0D77-729D-5B6D-6943CFE14F25}"/>
              </a:ext>
            </a:extLst>
          </p:cNvPr>
          <p:cNvSpPr>
            <a:spLocks noGrp="1"/>
          </p:cNvSpPr>
          <p:nvPr>
            <p:ph type="title"/>
          </p:nvPr>
        </p:nvSpPr>
        <p:spPr>
          <a:xfrm>
            <a:off x="1000113" y="468198"/>
            <a:ext cx="10191771" cy="794994"/>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LIMITATIONS OF THE EXISTING SYSTEM</a:t>
            </a:r>
          </a:p>
        </p:txBody>
      </p:sp>
      <p:sp>
        <p:nvSpPr>
          <p:cNvPr id="3" name="Content Placeholder 2">
            <a:extLst>
              <a:ext uri="{FF2B5EF4-FFF2-40B4-BE49-F238E27FC236}">
                <a16:creationId xmlns:a16="http://schemas.microsoft.com/office/drawing/2014/main" id="{EB487630-972D-DE6E-AC38-B98FF9CD0E74}"/>
              </a:ext>
            </a:extLst>
          </p:cNvPr>
          <p:cNvSpPr>
            <a:spLocks noGrp="1"/>
          </p:cNvSpPr>
          <p:nvPr>
            <p:ph idx="1"/>
          </p:nvPr>
        </p:nvSpPr>
        <p:spPr>
          <a:xfrm>
            <a:off x="1797664" y="1931673"/>
            <a:ext cx="8596668" cy="3880773"/>
          </a:xfrm>
        </p:spPr>
        <p:txBody>
          <a:bodyPr>
            <a:normAutofit fontScale="92500"/>
          </a:bodyPr>
          <a:lstStyle/>
          <a:p>
            <a:pPr algn="just">
              <a:lnSpc>
                <a:spcPct val="160000"/>
              </a:lnSpc>
              <a:buClr>
                <a:schemeClr val="tx1"/>
              </a:buClr>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Some systems do not support adaptive learning features where quiz difficulty adjusts based on user performance.</a:t>
            </a:r>
          </a:p>
          <a:p>
            <a:pPr algn="just">
              <a:lnSpc>
                <a:spcPct val="160000"/>
              </a:lnSpc>
              <a:buClr>
                <a:schemeClr val="tx1"/>
              </a:buClr>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Some systems do not have secure database management (Passwords are not securely stored).</a:t>
            </a:r>
          </a:p>
          <a:p>
            <a:pPr algn="just">
              <a:lnSpc>
                <a:spcPct val="160000"/>
              </a:lnSpc>
              <a:buClr>
                <a:schemeClr val="tx1"/>
              </a:buClr>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Some systems do not have </a:t>
            </a:r>
            <a:r>
              <a:rPr lang="en-IN" sz="2000" dirty="0">
                <a:solidFill>
                  <a:schemeClr val="tx1"/>
                </a:solidFill>
                <a:latin typeface="Times New Roman" panose="02020603050405020304" pitchFamily="18" charset="0"/>
                <a:cs typeface="Times New Roman" panose="02020603050405020304" pitchFamily="18" charset="0"/>
              </a:rPr>
              <a:t>role-based authentication (No Admin, Paper Setter, Candidate roles).</a:t>
            </a:r>
          </a:p>
          <a:p>
            <a:pPr algn="just">
              <a:lnSpc>
                <a:spcPct val="160000"/>
              </a:lnSpc>
              <a:buClr>
                <a:schemeClr val="tx1"/>
              </a:buClr>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Some systems do not have real-time leaderboard or student performance tracking.</a:t>
            </a:r>
            <a:endParaRPr lang="en-IN" sz="2000" dirty="0">
              <a:solidFill>
                <a:schemeClr val="tx1"/>
              </a:solidFill>
              <a:latin typeface="Times New Roman" panose="02020603050405020304" pitchFamily="18" charset="0"/>
              <a:cs typeface="Times New Roman" panose="02020603050405020304" pitchFamily="18" charset="0"/>
            </a:endParaRPr>
          </a:p>
          <a:p>
            <a:pPr algn="just">
              <a:lnSpc>
                <a:spcPct val="160000"/>
              </a:lnSpc>
              <a:buClr>
                <a:schemeClr val="tx1"/>
              </a:buClr>
              <a:buFont typeface="Arial" panose="020B0604020202020204" pitchFamily="34" charset="0"/>
              <a:buChar char="•"/>
            </a:pPr>
            <a:endParaRPr lang="en-IN" sz="2000" dirty="0">
              <a:solidFill>
                <a:schemeClr val="tx1"/>
              </a:solidFill>
              <a:latin typeface="Times New Roman" panose="02020603050405020304" pitchFamily="18" charset="0"/>
              <a:cs typeface="Times New Roman" panose="02020603050405020304" pitchFamily="18" charset="0"/>
            </a:endParaRPr>
          </a:p>
          <a:p>
            <a:pPr algn="just">
              <a:lnSpc>
                <a:spcPct val="150000"/>
              </a:lnSpc>
              <a:buClr>
                <a:schemeClr val="tx1"/>
              </a:buClr>
              <a:buFont typeface="Arial" panose="020B0604020202020204" pitchFamily="34" charset="0"/>
              <a:buChar char="•"/>
            </a:pPr>
            <a:endParaRPr lang="en-IN" sz="2000" dirty="0"/>
          </a:p>
          <a:p>
            <a:pPr algn="just">
              <a:lnSpc>
                <a:spcPct val="150000"/>
              </a:lnSpc>
              <a:buClr>
                <a:schemeClr val="tx1"/>
              </a:buClr>
              <a:buFont typeface="Arial" panose="020B0604020202020204" pitchFamily="34" charset="0"/>
              <a:buChar char="•"/>
            </a:pPr>
            <a:endParaRPr lang="en-US" sz="1900" dirty="0">
              <a:latin typeface="Times New Roman" panose="02020603050405020304" pitchFamily="18" charset="0"/>
              <a:cs typeface="Times New Roman" panose="02020603050405020304" pitchFamily="18" charset="0"/>
            </a:endParaRPr>
          </a:p>
          <a:p>
            <a:pPr algn="just">
              <a:lnSpc>
                <a:spcPct val="150000"/>
              </a:lnSpc>
              <a:buClr>
                <a:schemeClr val="tx1"/>
              </a:buClr>
              <a:buFont typeface="Arial" panose="020B0604020202020204" pitchFamily="34" charset="0"/>
              <a:buChar char="•"/>
            </a:pPr>
            <a:endParaRPr lang="en-US" sz="1900" i="0" dirty="0">
              <a:solidFill>
                <a:schemeClr val="tx1"/>
              </a:solidFill>
              <a:effectLst/>
              <a:latin typeface="Times New Roman" panose="02020603050405020304" pitchFamily="18" charset="0"/>
              <a:cs typeface="Times New Roman" panose="02020603050405020304" pitchFamily="18" charset="0"/>
            </a:endParaRPr>
          </a:p>
          <a:p>
            <a:pPr algn="just">
              <a:buClr>
                <a:schemeClr val="tx1"/>
              </a:buClr>
              <a:buFont typeface="Arial" panose="020B0604020202020204" pitchFamily="34" charset="0"/>
              <a:buChar char="•"/>
            </a:pPr>
            <a:endParaRPr lang="en-US" sz="2000" b="0" i="0" dirty="0">
              <a:solidFill>
                <a:schemeClr val="tx1"/>
              </a:solidFill>
              <a:effectLst/>
              <a:latin typeface="Times New Roman" panose="02020603050405020304" pitchFamily="18" charset="0"/>
              <a:cs typeface="Times New Roman" panose="02020603050405020304" pitchFamily="18" charset="0"/>
            </a:endParaRPr>
          </a:p>
          <a:p>
            <a:pPr algn="just">
              <a:buClr>
                <a:schemeClr val="tx1"/>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lgn="just">
              <a:buClr>
                <a:schemeClr val="tx1"/>
              </a:buCl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67266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7753A-CAAE-A660-D180-1BEA3CDCBFF9}"/>
              </a:ext>
            </a:extLst>
          </p:cNvPr>
          <p:cNvSpPr>
            <a:spLocks noGrp="1"/>
          </p:cNvSpPr>
          <p:nvPr>
            <p:ph type="title"/>
          </p:nvPr>
        </p:nvSpPr>
        <p:spPr>
          <a:xfrm>
            <a:off x="1797665" y="571473"/>
            <a:ext cx="8596668" cy="583096"/>
          </a:xfrm>
        </p:spPr>
        <p:txBody>
          <a:bodyPr>
            <a:noAutofit/>
          </a:bodyPr>
          <a:lstStyle/>
          <a:p>
            <a:pPr algn="ctr"/>
            <a:r>
              <a:rPr lang="en-IN" b="1" dirty="0">
                <a:solidFill>
                  <a:schemeClr val="tx1"/>
                </a:solidFill>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FD379E00-D97E-E98E-42C6-48B3B2C89041}"/>
              </a:ext>
            </a:extLst>
          </p:cNvPr>
          <p:cNvSpPr>
            <a:spLocks noGrp="1"/>
          </p:cNvSpPr>
          <p:nvPr>
            <p:ph idx="1"/>
          </p:nvPr>
        </p:nvSpPr>
        <p:spPr>
          <a:xfrm>
            <a:off x="1415053" y="1658816"/>
            <a:ext cx="9361891" cy="3880773"/>
          </a:xfrm>
        </p:spPr>
        <p:txBody>
          <a:bodyPr>
            <a:normAutofit/>
          </a:bodyPr>
          <a:lstStyle/>
          <a:p>
            <a:pPr marL="0" indent="0" algn="just">
              <a:lnSpc>
                <a:spcPct val="150000"/>
              </a:lnSpc>
              <a:buNone/>
            </a:pPr>
            <a:r>
              <a:rPr lang="en-US" sz="1700" dirty="0">
                <a:solidFill>
                  <a:schemeClr val="tx1"/>
                </a:solidFill>
                <a:latin typeface="Times New Roman" panose="02020603050405020304" pitchFamily="18" charset="0"/>
                <a:cs typeface="Times New Roman" panose="02020603050405020304" pitchFamily="18" charset="0"/>
              </a:rPr>
              <a:t>The conventional quiz creation and evaluation process is often labor-intensive, time-consuming, and lacks adaptability to individual learning needs. To address these challenges, we propose the development of an AI-based quiz system that automates quiz generation, grading, and feedback. This system ensures personalized and adaptive assessments, enhancing accuracy, reducing educator workload, and fostering improved student engagement and learning outcomes.</a:t>
            </a:r>
            <a:endParaRPr lang="en-IN" sz="17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6130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EE0B6-B5E1-BC30-B329-77762084E75C}"/>
              </a:ext>
            </a:extLst>
          </p:cNvPr>
          <p:cNvSpPr>
            <a:spLocks noGrp="1"/>
          </p:cNvSpPr>
          <p:nvPr>
            <p:ph type="title"/>
          </p:nvPr>
        </p:nvSpPr>
        <p:spPr>
          <a:xfrm>
            <a:off x="1797666" y="0"/>
            <a:ext cx="8596668" cy="602974"/>
          </a:xfrm>
        </p:spPr>
        <p:txBody>
          <a:bodyPr>
            <a:noAutofit/>
          </a:bodyPr>
          <a:lstStyle/>
          <a:p>
            <a:pPr algn="ctr"/>
            <a:r>
              <a:rPr lang="en-IN" b="1" dirty="0">
                <a:solidFill>
                  <a:schemeClr val="tx1"/>
                </a:solidFill>
                <a:latin typeface="Times New Roman" panose="02020603050405020304" pitchFamily="18" charset="0"/>
                <a:cs typeface="Times New Roman" panose="02020603050405020304" pitchFamily="18" charset="0"/>
              </a:rPr>
              <a:t>PROPOSED SYSTEM DIAGRAM</a:t>
            </a:r>
          </a:p>
        </p:txBody>
      </p:sp>
      <p:pic>
        <p:nvPicPr>
          <p:cNvPr id="4" name="Picture 3">
            <a:extLst>
              <a:ext uri="{FF2B5EF4-FFF2-40B4-BE49-F238E27FC236}">
                <a16:creationId xmlns:a16="http://schemas.microsoft.com/office/drawing/2014/main" id="{DD521527-2E5E-905E-52F5-53A4CE55C1B4}"/>
              </a:ext>
            </a:extLst>
          </p:cNvPr>
          <p:cNvPicPr>
            <a:picLocks noChangeAspect="1"/>
          </p:cNvPicPr>
          <p:nvPr/>
        </p:nvPicPr>
        <p:blipFill>
          <a:blip r:embed="rId2">
            <a:extLst>
              <a:ext uri="{28A0092B-C50C-407E-A947-70E740481C1C}">
                <a14:useLocalDpi xmlns:a14="http://schemas.microsoft.com/office/drawing/2010/main" val="0"/>
              </a:ext>
            </a:extLst>
          </a:blip>
          <a:srcRect b="5672"/>
          <a:stretch/>
        </p:blipFill>
        <p:spPr>
          <a:xfrm>
            <a:off x="172185" y="602974"/>
            <a:ext cx="11847629" cy="6061777"/>
          </a:xfrm>
          <a:prstGeom prst="rect">
            <a:avLst/>
          </a:prstGeom>
        </p:spPr>
      </p:pic>
    </p:spTree>
    <p:extLst>
      <p:ext uri="{BB962C8B-B14F-4D97-AF65-F5344CB8AC3E}">
        <p14:creationId xmlns:p14="http://schemas.microsoft.com/office/powerpoint/2010/main" val="41748477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4760E-31F9-C7BD-AEDA-0BFB467B8B97}"/>
              </a:ext>
            </a:extLst>
          </p:cNvPr>
          <p:cNvSpPr>
            <a:spLocks noGrp="1"/>
          </p:cNvSpPr>
          <p:nvPr>
            <p:ph type="title"/>
          </p:nvPr>
        </p:nvSpPr>
        <p:spPr>
          <a:xfrm>
            <a:off x="1797666" y="241954"/>
            <a:ext cx="8596668" cy="710153"/>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EXPLANATION OF DIAGRAM</a:t>
            </a:r>
          </a:p>
        </p:txBody>
      </p:sp>
      <p:sp>
        <p:nvSpPr>
          <p:cNvPr id="3" name="Content Placeholder 2">
            <a:extLst>
              <a:ext uri="{FF2B5EF4-FFF2-40B4-BE49-F238E27FC236}">
                <a16:creationId xmlns:a16="http://schemas.microsoft.com/office/drawing/2014/main" id="{32ABC0D5-59ED-1C60-CFA1-9C623852EE08}"/>
              </a:ext>
            </a:extLst>
          </p:cNvPr>
          <p:cNvSpPr>
            <a:spLocks noGrp="1"/>
          </p:cNvSpPr>
          <p:nvPr>
            <p:ph idx="1"/>
          </p:nvPr>
        </p:nvSpPr>
        <p:spPr>
          <a:xfrm>
            <a:off x="1068515" y="1076506"/>
            <a:ext cx="10054969" cy="3880773"/>
          </a:xfrm>
        </p:spPr>
        <p:txBody>
          <a:bodyPr>
            <a:normAutofit fontScale="25000" lnSpcReduction="20000"/>
          </a:bodyPr>
          <a:lstStyle/>
          <a:p>
            <a:pPr>
              <a:lnSpc>
                <a:spcPct val="170000"/>
              </a:lnSpc>
              <a:buNone/>
            </a:pPr>
            <a:r>
              <a:rPr lang="en-US" sz="6800" b="1" dirty="0">
                <a:solidFill>
                  <a:schemeClr val="tx1"/>
                </a:solidFill>
                <a:latin typeface="Times New Roman" panose="02020603050405020304" pitchFamily="18" charset="0"/>
                <a:cs typeface="Times New Roman" panose="02020603050405020304" pitchFamily="18" charset="0"/>
              </a:rPr>
              <a:t>1. User Authentication and Role-Based Access</a:t>
            </a:r>
          </a:p>
          <a:p>
            <a:pPr lvl="1">
              <a:lnSpc>
                <a:spcPct val="170000"/>
              </a:lnSpc>
              <a:buClr>
                <a:schemeClr val="tx1"/>
              </a:buClr>
              <a:buSzPct val="100000"/>
              <a:buFont typeface="Arial" panose="020B0604020202020204" pitchFamily="34" charset="0"/>
              <a:buChar char="•"/>
            </a:pPr>
            <a:r>
              <a:rPr lang="en-US" sz="6800" dirty="0">
                <a:solidFill>
                  <a:schemeClr val="tx1"/>
                </a:solidFill>
                <a:latin typeface="Times New Roman" panose="02020603050405020304" pitchFamily="18" charset="0"/>
                <a:cs typeface="Times New Roman" panose="02020603050405020304" pitchFamily="18" charset="0"/>
              </a:rPr>
              <a:t>A user (candidate, paper setter, or admin) starts by logging in or registering.</a:t>
            </a:r>
          </a:p>
          <a:p>
            <a:pPr lvl="1">
              <a:lnSpc>
                <a:spcPct val="170000"/>
              </a:lnSpc>
              <a:buClr>
                <a:schemeClr val="tx1"/>
              </a:buClr>
              <a:buSzPct val="100000"/>
              <a:buFont typeface="Arial" panose="020B0604020202020204" pitchFamily="34" charset="0"/>
              <a:buChar char="•"/>
            </a:pPr>
            <a:r>
              <a:rPr lang="en-US" sz="6800" dirty="0">
                <a:solidFill>
                  <a:schemeClr val="tx1"/>
                </a:solidFill>
                <a:latin typeface="Times New Roman" panose="02020603050405020304" pitchFamily="18" charset="0"/>
                <a:cs typeface="Times New Roman" panose="02020603050405020304" pitchFamily="18" charset="0"/>
              </a:rPr>
              <a:t>The authentication module verifies user credentials and redirects the user based on their role: </a:t>
            </a:r>
          </a:p>
          <a:p>
            <a:pPr lvl="2" indent="-285750">
              <a:lnSpc>
                <a:spcPct val="170000"/>
              </a:lnSpc>
              <a:buClr>
                <a:schemeClr val="tx1"/>
              </a:buClr>
              <a:buFont typeface="Arial" panose="020B0604020202020204" pitchFamily="34" charset="0"/>
              <a:buChar char="•"/>
            </a:pPr>
            <a:r>
              <a:rPr lang="en-US" sz="6800" dirty="0">
                <a:solidFill>
                  <a:schemeClr val="tx1"/>
                </a:solidFill>
                <a:latin typeface="Times New Roman" panose="02020603050405020304" pitchFamily="18" charset="0"/>
                <a:cs typeface="Times New Roman" panose="02020603050405020304" pitchFamily="18" charset="0"/>
              </a:rPr>
              <a:t>Admin Panel (for managing users and approving paper setters).</a:t>
            </a:r>
          </a:p>
          <a:p>
            <a:pPr lvl="2" indent="-285750">
              <a:lnSpc>
                <a:spcPct val="170000"/>
              </a:lnSpc>
              <a:buClr>
                <a:schemeClr val="tx1"/>
              </a:buClr>
              <a:buFont typeface="Arial" panose="020B0604020202020204" pitchFamily="34" charset="0"/>
              <a:buChar char="•"/>
            </a:pPr>
            <a:r>
              <a:rPr lang="en-US" sz="6800" dirty="0">
                <a:solidFill>
                  <a:schemeClr val="tx1"/>
                </a:solidFill>
                <a:latin typeface="Times New Roman" panose="02020603050405020304" pitchFamily="18" charset="0"/>
                <a:cs typeface="Times New Roman" panose="02020603050405020304" pitchFamily="18" charset="0"/>
              </a:rPr>
              <a:t>Paper Setter Portal (for creating and managing tests).</a:t>
            </a:r>
          </a:p>
          <a:p>
            <a:pPr lvl="2" indent="-285750">
              <a:lnSpc>
                <a:spcPct val="170000"/>
              </a:lnSpc>
              <a:buClr>
                <a:schemeClr val="tx1"/>
              </a:buClr>
              <a:buFont typeface="Arial" panose="020B0604020202020204" pitchFamily="34" charset="0"/>
              <a:buChar char="•"/>
            </a:pPr>
            <a:r>
              <a:rPr lang="en-US" sz="6800" dirty="0">
                <a:solidFill>
                  <a:schemeClr val="tx1"/>
                </a:solidFill>
                <a:latin typeface="Times New Roman" panose="02020603050405020304" pitchFamily="18" charset="0"/>
                <a:cs typeface="Times New Roman" panose="02020603050405020304" pitchFamily="18" charset="0"/>
              </a:rPr>
              <a:t>Candidate Dashboard (for taking tests and viewing results).</a:t>
            </a:r>
          </a:p>
          <a:p>
            <a:pPr>
              <a:lnSpc>
                <a:spcPct val="170000"/>
              </a:lnSpc>
              <a:buNone/>
            </a:pPr>
            <a:r>
              <a:rPr lang="en-US" sz="6800" b="1" dirty="0">
                <a:solidFill>
                  <a:schemeClr val="tx1"/>
                </a:solidFill>
                <a:latin typeface="Times New Roman" panose="02020603050405020304" pitchFamily="18" charset="0"/>
                <a:cs typeface="Times New Roman" panose="02020603050405020304" pitchFamily="18" charset="0"/>
              </a:rPr>
              <a:t>2. Admin Panel (Role: Administrator)</a:t>
            </a:r>
          </a:p>
          <a:p>
            <a:pPr lvl="1">
              <a:lnSpc>
                <a:spcPct val="170000"/>
              </a:lnSpc>
              <a:buClr>
                <a:schemeClr val="tx1"/>
              </a:buClr>
              <a:buSzPct val="100000"/>
              <a:buFont typeface="Arial" panose="020B0604020202020204" pitchFamily="34" charset="0"/>
              <a:buChar char="•"/>
            </a:pPr>
            <a:r>
              <a:rPr lang="en-US" sz="6800" dirty="0">
                <a:solidFill>
                  <a:schemeClr val="tx1"/>
                </a:solidFill>
                <a:latin typeface="Times New Roman" panose="02020603050405020304" pitchFamily="18" charset="0"/>
                <a:cs typeface="Times New Roman" panose="02020603050405020304" pitchFamily="18" charset="0"/>
              </a:rPr>
              <a:t>The admin panel is responsible for: </a:t>
            </a:r>
          </a:p>
          <a:p>
            <a:pPr lvl="2" indent="-285750">
              <a:lnSpc>
                <a:spcPct val="170000"/>
              </a:lnSpc>
              <a:buClr>
                <a:schemeClr val="tx1"/>
              </a:buClr>
              <a:buFont typeface="Arial" panose="020B0604020202020204" pitchFamily="34" charset="0"/>
              <a:buChar char="•"/>
            </a:pPr>
            <a:r>
              <a:rPr lang="en-US" sz="6800" dirty="0">
                <a:solidFill>
                  <a:schemeClr val="tx1"/>
                </a:solidFill>
                <a:latin typeface="Times New Roman" panose="02020603050405020304" pitchFamily="18" charset="0"/>
                <a:cs typeface="Times New Roman" panose="02020603050405020304" pitchFamily="18" charset="0"/>
              </a:rPr>
              <a:t>Approving paper setters.</a:t>
            </a:r>
          </a:p>
          <a:p>
            <a:pPr lvl="2" indent="-285750">
              <a:lnSpc>
                <a:spcPct val="170000"/>
              </a:lnSpc>
              <a:buClr>
                <a:schemeClr val="tx1"/>
              </a:buClr>
              <a:buFont typeface="Arial" panose="020B0604020202020204" pitchFamily="34" charset="0"/>
              <a:buChar char="•"/>
            </a:pPr>
            <a:r>
              <a:rPr lang="en-US" sz="6800" dirty="0">
                <a:solidFill>
                  <a:schemeClr val="tx1"/>
                </a:solidFill>
                <a:latin typeface="Times New Roman" panose="02020603050405020304" pitchFamily="18" charset="0"/>
                <a:cs typeface="Times New Roman" panose="02020603050405020304" pitchFamily="18" charset="0"/>
              </a:rPr>
              <a:t>Managing users.</a:t>
            </a:r>
          </a:p>
          <a:p>
            <a:pPr lvl="2" indent="-285750">
              <a:lnSpc>
                <a:spcPct val="170000"/>
              </a:lnSpc>
              <a:buClr>
                <a:schemeClr val="tx1"/>
              </a:buClr>
              <a:buFont typeface="Arial" panose="020B0604020202020204" pitchFamily="34" charset="0"/>
              <a:buChar char="•"/>
            </a:pPr>
            <a:r>
              <a:rPr lang="en-US" sz="6800" dirty="0">
                <a:solidFill>
                  <a:schemeClr val="tx1"/>
                </a:solidFill>
                <a:latin typeface="Times New Roman" panose="02020603050405020304" pitchFamily="18" charset="0"/>
                <a:cs typeface="Times New Roman" panose="02020603050405020304" pitchFamily="18" charset="0"/>
              </a:rPr>
              <a:t>Handling system configurations.</a:t>
            </a:r>
          </a:p>
          <a:p>
            <a:pPr marL="1314450" lvl="3" indent="0">
              <a:lnSpc>
                <a:spcPct val="150000"/>
              </a:lnSpc>
              <a:buClr>
                <a:schemeClr val="tx1"/>
              </a:buClr>
              <a:buNone/>
            </a:pPr>
            <a:endParaRPr lang="en-US" sz="15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9178030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409906-86D7-6A99-1BC6-17CD69C3A429}"/>
              </a:ext>
            </a:extLst>
          </p:cNvPr>
          <p:cNvSpPr>
            <a:spLocks noGrp="1"/>
          </p:cNvSpPr>
          <p:nvPr>
            <p:ph idx="1"/>
          </p:nvPr>
        </p:nvSpPr>
        <p:spPr>
          <a:xfrm>
            <a:off x="1033878" y="67838"/>
            <a:ext cx="10124243" cy="3880773"/>
          </a:xfrm>
        </p:spPr>
        <p:txBody>
          <a:bodyPr>
            <a:noAutofit/>
          </a:bodyPr>
          <a:lstStyle/>
          <a:p>
            <a:pPr marL="0" indent="0">
              <a:lnSpc>
                <a:spcPct val="150000"/>
              </a:lnSpc>
              <a:buClr>
                <a:schemeClr val="tx1"/>
              </a:buClr>
              <a:buNone/>
            </a:pPr>
            <a:r>
              <a:rPr lang="en-IN" sz="1700" b="1" dirty="0">
                <a:solidFill>
                  <a:schemeClr val="tx1"/>
                </a:solidFill>
                <a:latin typeface="Times New Roman" panose="02020603050405020304" pitchFamily="18" charset="0"/>
                <a:cs typeface="Times New Roman" panose="02020603050405020304" pitchFamily="18" charset="0"/>
              </a:rPr>
              <a:t>3. Paper Setter Portal (Role: Paper Setter)</a:t>
            </a:r>
          </a:p>
          <a:p>
            <a:pPr lvl="1">
              <a:lnSpc>
                <a:spcPct val="150000"/>
              </a:lnSpc>
              <a:buClr>
                <a:schemeClr val="tx1"/>
              </a:buClr>
              <a:buSzPct val="100000"/>
              <a:buFont typeface="Arial" panose="020B0604020202020204" pitchFamily="34" charset="0"/>
              <a:buChar char="•"/>
            </a:pPr>
            <a:r>
              <a:rPr lang="en-IN" sz="1700" dirty="0">
                <a:solidFill>
                  <a:schemeClr val="tx1"/>
                </a:solidFill>
                <a:latin typeface="Times New Roman" panose="02020603050405020304" pitchFamily="18" charset="0"/>
                <a:cs typeface="Times New Roman" panose="02020603050405020304" pitchFamily="18" charset="0"/>
              </a:rPr>
              <a:t>Paper setters can:</a:t>
            </a:r>
          </a:p>
          <a:p>
            <a:pPr lvl="2">
              <a:lnSpc>
                <a:spcPct val="150000"/>
              </a:lnSpc>
              <a:buClr>
                <a:schemeClr val="tx1"/>
              </a:buClr>
              <a:buFont typeface="Arial" panose="020B0604020202020204" pitchFamily="34" charset="0"/>
              <a:buChar char="•"/>
            </a:pPr>
            <a:r>
              <a:rPr lang="en-IN" sz="1700" dirty="0">
                <a:solidFill>
                  <a:schemeClr val="tx1"/>
                </a:solidFill>
                <a:latin typeface="Times New Roman" panose="02020603050405020304" pitchFamily="18" charset="0"/>
                <a:cs typeface="Times New Roman" panose="02020603050405020304" pitchFamily="18" charset="0"/>
              </a:rPr>
              <a:t>Create and edit questions in the MySQL database.</a:t>
            </a:r>
          </a:p>
          <a:p>
            <a:pPr lvl="2">
              <a:lnSpc>
                <a:spcPct val="150000"/>
              </a:lnSpc>
              <a:buClr>
                <a:schemeClr val="tx1"/>
              </a:buClr>
              <a:buFont typeface="Arial" panose="020B0604020202020204" pitchFamily="34" charset="0"/>
              <a:buChar char="•"/>
            </a:pPr>
            <a:r>
              <a:rPr lang="en-IN" sz="1700" dirty="0">
                <a:solidFill>
                  <a:schemeClr val="tx1"/>
                </a:solidFill>
                <a:latin typeface="Times New Roman" panose="02020603050405020304" pitchFamily="18" charset="0"/>
                <a:cs typeface="Times New Roman" panose="02020603050405020304" pitchFamily="18" charset="0"/>
              </a:rPr>
              <a:t>Manage tests (set schedules, review questions, etc.).</a:t>
            </a:r>
          </a:p>
          <a:p>
            <a:pPr marL="0" indent="0">
              <a:lnSpc>
                <a:spcPct val="150000"/>
              </a:lnSpc>
              <a:buClr>
                <a:schemeClr val="tx1"/>
              </a:buClr>
              <a:buNone/>
            </a:pPr>
            <a:r>
              <a:rPr lang="en-IN" sz="1700" b="1" dirty="0">
                <a:solidFill>
                  <a:schemeClr val="tx1"/>
                </a:solidFill>
                <a:latin typeface="Times New Roman" panose="02020603050405020304" pitchFamily="18" charset="0"/>
                <a:cs typeface="Times New Roman" panose="02020603050405020304" pitchFamily="18" charset="0"/>
              </a:rPr>
              <a:t>4. Candidate Dashboard (Role: Test-Taker)</a:t>
            </a:r>
          </a:p>
          <a:p>
            <a:pPr lvl="1">
              <a:lnSpc>
                <a:spcPct val="150000"/>
              </a:lnSpc>
              <a:buClr>
                <a:schemeClr val="tx1"/>
              </a:buClr>
              <a:buSzPct val="100000"/>
              <a:buFont typeface="Arial" panose="020B0604020202020204" pitchFamily="34" charset="0"/>
              <a:buChar char="•"/>
            </a:pPr>
            <a:r>
              <a:rPr lang="en-IN" sz="1700" dirty="0">
                <a:solidFill>
                  <a:schemeClr val="tx1"/>
                </a:solidFill>
                <a:latin typeface="Times New Roman" panose="02020603050405020304" pitchFamily="18" charset="0"/>
                <a:cs typeface="Times New Roman" panose="02020603050405020304" pitchFamily="18" charset="0"/>
              </a:rPr>
              <a:t>Candidates are redirected to the Candidate Dashboard after authentication.</a:t>
            </a:r>
          </a:p>
          <a:p>
            <a:pPr lvl="1">
              <a:lnSpc>
                <a:spcPct val="150000"/>
              </a:lnSpc>
              <a:buClr>
                <a:schemeClr val="tx1"/>
              </a:buClr>
              <a:buSzPct val="100000"/>
              <a:buFont typeface="Arial" panose="020B0604020202020204" pitchFamily="34" charset="0"/>
              <a:buChar char="•"/>
            </a:pPr>
            <a:r>
              <a:rPr lang="en-IN" sz="1700" dirty="0">
                <a:solidFill>
                  <a:schemeClr val="tx1"/>
                </a:solidFill>
                <a:latin typeface="Times New Roman" panose="02020603050405020304" pitchFamily="18" charset="0"/>
                <a:cs typeface="Times New Roman" panose="02020603050405020304" pitchFamily="18" charset="0"/>
              </a:rPr>
              <a:t>From here, they can:</a:t>
            </a:r>
          </a:p>
          <a:p>
            <a:pPr lvl="2">
              <a:lnSpc>
                <a:spcPct val="150000"/>
              </a:lnSpc>
              <a:buClr>
                <a:schemeClr val="tx1"/>
              </a:buClr>
              <a:buFont typeface="Arial" panose="020B0604020202020204" pitchFamily="34" charset="0"/>
              <a:buChar char="•"/>
            </a:pPr>
            <a:r>
              <a:rPr lang="en-IN" sz="1700" dirty="0">
                <a:solidFill>
                  <a:schemeClr val="tx1"/>
                </a:solidFill>
                <a:latin typeface="Times New Roman" panose="02020603050405020304" pitchFamily="18" charset="0"/>
                <a:cs typeface="Times New Roman" panose="02020603050405020304" pitchFamily="18" charset="0"/>
              </a:rPr>
              <a:t>Attempt quizzes (questions retrieved from the MySQL database).</a:t>
            </a:r>
          </a:p>
          <a:p>
            <a:pPr lvl="2">
              <a:lnSpc>
                <a:spcPct val="150000"/>
              </a:lnSpc>
              <a:buClr>
                <a:schemeClr val="tx1"/>
              </a:buClr>
              <a:buFont typeface="Arial" panose="020B0604020202020204" pitchFamily="34" charset="0"/>
              <a:buChar char="•"/>
            </a:pPr>
            <a:r>
              <a:rPr lang="en-IN" sz="1700" dirty="0">
                <a:solidFill>
                  <a:schemeClr val="tx1"/>
                </a:solidFill>
                <a:latin typeface="Times New Roman" panose="02020603050405020304" pitchFamily="18" charset="0"/>
                <a:cs typeface="Times New Roman" panose="02020603050405020304" pitchFamily="18" charset="0"/>
              </a:rPr>
              <a:t>Submit answers for </a:t>
            </a:r>
            <a:r>
              <a:rPr lang="en-IN" sz="1700" dirty="0" err="1">
                <a:solidFill>
                  <a:schemeClr val="tx1"/>
                </a:solidFill>
                <a:latin typeface="Times New Roman" panose="02020603050405020304" pitchFamily="18" charset="0"/>
                <a:cs typeface="Times New Roman" panose="02020603050405020304" pitchFamily="18" charset="0"/>
              </a:rPr>
              <a:t>evaluation.View</a:t>
            </a:r>
            <a:r>
              <a:rPr lang="en-IN" sz="1700" dirty="0">
                <a:solidFill>
                  <a:schemeClr val="tx1"/>
                </a:solidFill>
                <a:latin typeface="Times New Roman" panose="02020603050405020304" pitchFamily="18" charset="0"/>
                <a:cs typeface="Times New Roman" panose="02020603050405020304" pitchFamily="18" charset="0"/>
              </a:rPr>
              <a:t> AI-generated questions powered by Google Gemini AI.</a:t>
            </a:r>
          </a:p>
          <a:p>
            <a:pPr lvl="2">
              <a:lnSpc>
                <a:spcPct val="150000"/>
              </a:lnSpc>
              <a:buClr>
                <a:schemeClr val="tx1"/>
              </a:buClr>
              <a:buFont typeface="Arial" panose="020B0604020202020204" pitchFamily="34" charset="0"/>
              <a:buChar char="•"/>
            </a:pPr>
            <a:r>
              <a:rPr lang="en-IN" sz="1700" dirty="0">
                <a:solidFill>
                  <a:schemeClr val="tx1"/>
                </a:solidFill>
                <a:latin typeface="Times New Roman" panose="02020603050405020304" pitchFamily="18" charset="0"/>
                <a:cs typeface="Times New Roman" panose="02020603050405020304" pitchFamily="18" charset="0"/>
              </a:rPr>
              <a:t>Check the leaderboard for rankings.</a:t>
            </a:r>
          </a:p>
          <a:p>
            <a:pPr marL="0" indent="0">
              <a:lnSpc>
                <a:spcPct val="150000"/>
              </a:lnSpc>
              <a:buClr>
                <a:schemeClr val="tx1"/>
              </a:buClr>
              <a:buNone/>
            </a:pPr>
            <a:r>
              <a:rPr lang="en-IN" sz="1700" b="1" dirty="0">
                <a:solidFill>
                  <a:schemeClr val="tx1"/>
                </a:solidFill>
                <a:latin typeface="Times New Roman" panose="02020603050405020304" pitchFamily="18" charset="0"/>
                <a:cs typeface="Times New Roman" panose="02020603050405020304" pitchFamily="18" charset="0"/>
              </a:rPr>
              <a:t>5. AI-Generated Questions (Google Gemini AI)</a:t>
            </a:r>
          </a:p>
          <a:p>
            <a:pPr lvl="1">
              <a:lnSpc>
                <a:spcPct val="150000"/>
              </a:lnSpc>
              <a:buClr>
                <a:schemeClr val="tx1"/>
              </a:buClr>
              <a:buSzPct val="100000"/>
              <a:buFont typeface="Arial" panose="020B0604020202020204" pitchFamily="34" charset="0"/>
              <a:buChar char="•"/>
            </a:pPr>
            <a:r>
              <a:rPr lang="en-IN" sz="1700" dirty="0">
                <a:solidFill>
                  <a:schemeClr val="tx1"/>
                </a:solidFill>
                <a:latin typeface="Times New Roman" panose="02020603050405020304" pitchFamily="18" charset="0"/>
                <a:cs typeface="Times New Roman" panose="02020603050405020304" pitchFamily="18" charset="0"/>
              </a:rPr>
              <a:t>The system integrates Google Gemini AI to generate questions dynamically.</a:t>
            </a:r>
          </a:p>
          <a:p>
            <a:pPr lvl="1">
              <a:lnSpc>
                <a:spcPct val="150000"/>
              </a:lnSpc>
              <a:buClr>
                <a:schemeClr val="tx1"/>
              </a:buClr>
              <a:buSzPct val="100000"/>
              <a:buFont typeface="Arial" panose="020B0604020202020204" pitchFamily="34" charset="0"/>
              <a:buChar char="•"/>
            </a:pPr>
            <a:r>
              <a:rPr lang="en-IN" sz="1700" dirty="0">
                <a:solidFill>
                  <a:schemeClr val="tx1"/>
                </a:solidFill>
                <a:latin typeface="Times New Roman" panose="02020603050405020304" pitchFamily="18" charset="0"/>
                <a:cs typeface="Times New Roman" panose="02020603050405020304" pitchFamily="18" charset="0"/>
              </a:rPr>
              <a:t>These AI-generated questions are stored in the MySQL database and can be used in quizzes.</a:t>
            </a:r>
          </a:p>
        </p:txBody>
      </p:sp>
    </p:spTree>
    <p:extLst>
      <p:ext uri="{BB962C8B-B14F-4D97-AF65-F5344CB8AC3E}">
        <p14:creationId xmlns:p14="http://schemas.microsoft.com/office/powerpoint/2010/main" val="3241056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6969B3-737B-CD06-FB9F-2F4928C83CB1}"/>
              </a:ext>
            </a:extLst>
          </p:cNvPr>
          <p:cNvSpPr>
            <a:spLocks noGrp="1"/>
          </p:cNvSpPr>
          <p:nvPr>
            <p:ph idx="1"/>
          </p:nvPr>
        </p:nvSpPr>
        <p:spPr>
          <a:xfrm>
            <a:off x="1797666" y="671154"/>
            <a:ext cx="8596668" cy="3880773"/>
          </a:xfrm>
        </p:spPr>
        <p:txBody>
          <a:bodyPr>
            <a:noAutofit/>
          </a:bodyPr>
          <a:lstStyle/>
          <a:p>
            <a:pPr marL="0" indent="0">
              <a:lnSpc>
                <a:spcPct val="170000"/>
              </a:lnSpc>
              <a:buNone/>
            </a:pPr>
            <a:r>
              <a:rPr lang="en-US" sz="1700" b="1" dirty="0">
                <a:solidFill>
                  <a:schemeClr val="tx1"/>
                </a:solidFill>
                <a:latin typeface="Times New Roman" panose="02020603050405020304" pitchFamily="18" charset="0"/>
                <a:cs typeface="Times New Roman" panose="02020603050405020304" pitchFamily="18" charset="0"/>
              </a:rPr>
              <a:t>6. Leaderboard and Performance Tracking</a:t>
            </a:r>
          </a:p>
          <a:p>
            <a:pPr lvl="1">
              <a:lnSpc>
                <a:spcPct val="170000"/>
              </a:lnSpc>
              <a:buClr>
                <a:schemeClr val="tx1"/>
              </a:buClr>
              <a:buSzPct val="100000"/>
              <a:buFont typeface="Arial" panose="020B0604020202020204" pitchFamily="34" charset="0"/>
              <a:buChar char="•"/>
            </a:pPr>
            <a:r>
              <a:rPr lang="en-US" sz="1700" dirty="0">
                <a:solidFill>
                  <a:schemeClr val="tx1"/>
                </a:solidFill>
                <a:latin typeface="Times New Roman" panose="02020603050405020304" pitchFamily="18" charset="0"/>
                <a:cs typeface="Times New Roman" panose="02020603050405020304" pitchFamily="18" charset="0"/>
              </a:rPr>
              <a:t>Candidates can view their rankings on the leaderboard.</a:t>
            </a:r>
          </a:p>
          <a:p>
            <a:pPr lvl="1">
              <a:lnSpc>
                <a:spcPct val="170000"/>
              </a:lnSpc>
              <a:buClr>
                <a:schemeClr val="tx1"/>
              </a:buClr>
              <a:buSzPct val="100000"/>
              <a:buFont typeface="Arial" panose="020B0604020202020204" pitchFamily="34" charset="0"/>
              <a:buChar char="•"/>
            </a:pPr>
            <a:r>
              <a:rPr lang="en-US" sz="1700" dirty="0">
                <a:solidFill>
                  <a:schemeClr val="tx1"/>
                </a:solidFill>
                <a:latin typeface="Times New Roman" panose="02020603050405020304" pitchFamily="18" charset="0"/>
                <a:cs typeface="Times New Roman" panose="02020603050405020304" pitchFamily="18" charset="0"/>
              </a:rPr>
              <a:t>The Leaderboard aggregates scores and displays rankings based on test performance.</a:t>
            </a:r>
          </a:p>
          <a:p>
            <a:pPr marL="0" indent="0">
              <a:lnSpc>
                <a:spcPct val="170000"/>
              </a:lnSpc>
              <a:buNone/>
            </a:pPr>
            <a:r>
              <a:rPr lang="en-US" sz="1700" b="1" dirty="0">
                <a:solidFill>
                  <a:schemeClr val="tx1"/>
                </a:solidFill>
                <a:latin typeface="Times New Roman" panose="02020603050405020304" pitchFamily="18" charset="0"/>
                <a:cs typeface="Times New Roman" panose="02020603050405020304" pitchFamily="18" charset="0"/>
              </a:rPr>
              <a:t>7. MySQL Database (Central Data Storage)</a:t>
            </a:r>
          </a:p>
          <a:p>
            <a:pPr lvl="1">
              <a:lnSpc>
                <a:spcPct val="170000"/>
              </a:lnSpc>
              <a:buClr>
                <a:schemeClr val="tx1"/>
              </a:buClr>
              <a:buSzPct val="100000"/>
              <a:buFont typeface="Arial" panose="020B0604020202020204" pitchFamily="34" charset="0"/>
              <a:buChar char="•"/>
            </a:pPr>
            <a:r>
              <a:rPr lang="en-US" sz="1700" dirty="0">
                <a:solidFill>
                  <a:schemeClr val="tx1"/>
                </a:solidFill>
                <a:latin typeface="Times New Roman" panose="02020603050405020304" pitchFamily="18" charset="0"/>
                <a:cs typeface="Times New Roman" panose="02020603050405020304" pitchFamily="18" charset="0"/>
              </a:rPr>
              <a:t>Stores questions, test data, user credentials, and results.</a:t>
            </a:r>
          </a:p>
          <a:p>
            <a:pPr lvl="1">
              <a:lnSpc>
                <a:spcPct val="170000"/>
              </a:lnSpc>
              <a:buClr>
                <a:schemeClr val="tx1"/>
              </a:buClr>
              <a:buSzPct val="100000"/>
              <a:buFont typeface="Arial" panose="020B0604020202020204" pitchFamily="34" charset="0"/>
              <a:buChar char="•"/>
            </a:pPr>
            <a:r>
              <a:rPr lang="en-US" sz="1700" dirty="0">
                <a:solidFill>
                  <a:schemeClr val="tx1"/>
                </a:solidFill>
                <a:latin typeface="Times New Roman" panose="02020603050405020304" pitchFamily="18" charset="0"/>
                <a:cs typeface="Times New Roman" panose="02020603050405020304" pitchFamily="18" charset="0"/>
              </a:rPr>
              <a:t>Used </a:t>
            </a:r>
            <a:r>
              <a:rPr lang="en-US" sz="1700" dirty="0" err="1">
                <a:solidFill>
                  <a:schemeClr val="tx1"/>
                </a:solidFill>
                <a:latin typeface="Times New Roman" panose="02020603050405020304" pitchFamily="18" charset="0"/>
                <a:cs typeface="Times New Roman" panose="02020603050405020304" pitchFamily="18" charset="0"/>
              </a:rPr>
              <a:t>by:Paper</a:t>
            </a:r>
            <a:r>
              <a:rPr lang="en-US" sz="1700" dirty="0">
                <a:solidFill>
                  <a:schemeClr val="tx1"/>
                </a:solidFill>
                <a:latin typeface="Times New Roman" panose="02020603050405020304" pitchFamily="18" charset="0"/>
                <a:cs typeface="Times New Roman" panose="02020603050405020304" pitchFamily="18" charset="0"/>
              </a:rPr>
              <a:t> </a:t>
            </a:r>
          </a:p>
          <a:p>
            <a:pPr lvl="2">
              <a:lnSpc>
                <a:spcPct val="170000"/>
              </a:lnSpc>
              <a:buClr>
                <a:schemeClr val="tx1"/>
              </a:buClr>
              <a:buFont typeface="Arial" panose="020B0604020202020204" pitchFamily="34" charset="0"/>
              <a:buChar char="•"/>
            </a:pPr>
            <a:r>
              <a:rPr lang="en-US" sz="1700" dirty="0">
                <a:solidFill>
                  <a:schemeClr val="tx1"/>
                </a:solidFill>
                <a:latin typeface="Times New Roman" panose="02020603050405020304" pitchFamily="18" charset="0"/>
                <a:cs typeface="Times New Roman" panose="02020603050405020304" pitchFamily="18" charset="0"/>
              </a:rPr>
              <a:t>Setter Portal (for question management).</a:t>
            </a:r>
          </a:p>
          <a:p>
            <a:pPr lvl="2">
              <a:lnSpc>
                <a:spcPct val="170000"/>
              </a:lnSpc>
              <a:buClr>
                <a:schemeClr val="tx1"/>
              </a:buClr>
              <a:buFont typeface="Arial" panose="020B0604020202020204" pitchFamily="34" charset="0"/>
              <a:buChar char="•"/>
            </a:pPr>
            <a:r>
              <a:rPr lang="en-US" sz="1700" dirty="0">
                <a:solidFill>
                  <a:schemeClr val="tx1"/>
                </a:solidFill>
                <a:latin typeface="Times New Roman" panose="02020603050405020304" pitchFamily="18" charset="0"/>
                <a:cs typeface="Times New Roman" panose="02020603050405020304" pitchFamily="18" charset="0"/>
              </a:rPr>
              <a:t>Test Management Module (for scheduling and monitoring tests).</a:t>
            </a:r>
          </a:p>
          <a:p>
            <a:pPr lvl="2">
              <a:lnSpc>
                <a:spcPct val="170000"/>
              </a:lnSpc>
              <a:buClr>
                <a:schemeClr val="tx1"/>
              </a:buClr>
              <a:buFont typeface="Arial" panose="020B0604020202020204" pitchFamily="34" charset="0"/>
              <a:buChar char="•"/>
            </a:pPr>
            <a:r>
              <a:rPr lang="en-US" sz="1700" dirty="0">
                <a:solidFill>
                  <a:schemeClr val="tx1"/>
                </a:solidFill>
                <a:latin typeface="Times New Roman" panose="02020603050405020304" pitchFamily="18" charset="0"/>
                <a:cs typeface="Times New Roman" panose="02020603050405020304" pitchFamily="18" charset="0"/>
              </a:rPr>
              <a:t>Candidate Dashboard (for retrieving questions and submitting answers).</a:t>
            </a:r>
            <a:endParaRPr lang="en-IN" sz="17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334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B19B7-AB9B-13BD-9823-F44382751302}"/>
              </a:ext>
            </a:extLst>
          </p:cNvPr>
          <p:cNvSpPr>
            <a:spLocks noGrp="1"/>
          </p:cNvSpPr>
          <p:nvPr>
            <p:ph type="title"/>
          </p:nvPr>
        </p:nvSpPr>
        <p:spPr>
          <a:xfrm>
            <a:off x="1797666" y="251792"/>
            <a:ext cx="8596668" cy="762000"/>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FRAMEWORK</a:t>
            </a:r>
          </a:p>
        </p:txBody>
      </p:sp>
      <p:sp>
        <p:nvSpPr>
          <p:cNvPr id="3" name="Content Placeholder 2">
            <a:extLst>
              <a:ext uri="{FF2B5EF4-FFF2-40B4-BE49-F238E27FC236}">
                <a16:creationId xmlns:a16="http://schemas.microsoft.com/office/drawing/2014/main" id="{78A68605-4F32-63C5-FA0E-B4086C081843}"/>
              </a:ext>
            </a:extLst>
          </p:cNvPr>
          <p:cNvSpPr>
            <a:spLocks noGrp="1"/>
          </p:cNvSpPr>
          <p:nvPr>
            <p:ph idx="1"/>
          </p:nvPr>
        </p:nvSpPr>
        <p:spPr>
          <a:xfrm>
            <a:off x="847833" y="1234089"/>
            <a:ext cx="10496334" cy="3880773"/>
          </a:xfrm>
        </p:spPr>
        <p:txBody>
          <a:bodyPr>
            <a:noAutofit/>
          </a:bodyPr>
          <a:lstStyle/>
          <a:p>
            <a:pPr marL="0" indent="0" algn="just">
              <a:lnSpc>
                <a:spcPct val="150000"/>
              </a:lnSpc>
              <a:buClr>
                <a:schemeClr val="tx1"/>
              </a:buClr>
              <a:buNone/>
            </a:pPr>
            <a:r>
              <a:rPr lang="en-IN" sz="1700" b="1" dirty="0">
                <a:solidFill>
                  <a:schemeClr val="tx1"/>
                </a:solidFill>
                <a:latin typeface="Times New Roman" panose="02020603050405020304" pitchFamily="18" charset="0"/>
                <a:cs typeface="Times New Roman" panose="02020603050405020304" pitchFamily="18" charset="0"/>
              </a:rPr>
              <a:t>1. Model Choice &amp; Tool Selection</a:t>
            </a:r>
          </a:p>
          <a:p>
            <a:pPr algn="just">
              <a:lnSpc>
                <a:spcPct val="150000"/>
              </a:lnSpc>
              <a:buClr>
                <a:schemeClr val="tx1"/>
              </a:buClr>
              <a:buFont typeface="Wingdings" panose="05000000000000000000" pitchFamily="2" charset="2"/>
              <a:buChar char="Ø"/>
            </a:pPr>
            <a:r>
              <a:rPr lang="en-IN" sz="1700" b="1" dirty="0">
                <a:solidFill>
                  <a:schemeClr val="tx1"/>
                </a:solidFill>
                <a:latin typeface="Times New Roman" panose="02020603050405020304" pitchFamily="18" charset="0"/>
                <a:cs typeface="Times New Roman" panose="02020603050405020304" pitchFamily="18" charset="0"/>
              </a:rPr>
              <a:t>Model Choice:</a:t>
            </a:r>
          </a:p>
          <a:p>
            <a:pPr lvl="1" algn="just">
              <a:lnSpc>
                <a:spcPct val="150000"/>
              </a:lnSpc>
              <a:buClr>
                <a:schemeClr val="tx1"/>
              </a:buClr>
              <a:buFont typeface="Arial" panose="020B0604020202020204" pitchFamily="34" charset="0"/>
              <a:buChar char="•"/>
            </a:pPr>
            <a:r>
              <a:rPr lang="en-IN" sz="1700" dirty="0">
                <a:solidFill>
                  <a:schemeClr val="tx1"/>
                </a:solidFill>
                <a:latin typeface="Times New Roman" panose="02020603050405020304" pitchFamily="18" charset="0"/>
                <a:cs typeface="Times New Roman" panose="02020603050405020304" pitchFamily="18" charset="0"/>
              </a:rPr>
              <a:t>Google Gemini AI (via </a:t>
            </a:r>
            <a:r>
              <a:rPr lang="en-IN" sz="1700" dirty="0" err="1">
                <a:solidFill>
                  <a:schemeClr val="tx1"/>
                </a:solidFill>
                <a:latin typeface="Times New Roman" panose="02020603050405020304" pitchFamily="18" charset="0"/>
                <a:cs typeface="Times New Roman" panose="02020603050405020304" pitchFamily="18" charset="0"/>
              </a:rPr>
              <a:t>google.generativeai</a:t>
            </a:r>
            <a:r>
              <a:rPr lang="en-IN" sz="1700" dirty="0">
                <a:solidFill>
                  <a:schemeClr val="tx1"/>
                </a:solidFill>
                <a:latin typeface="Times New Roman" panose="02020603050405020304" pitchFamily="18" charset="0"/>
                <a:cs typeface="Times New Roman" panose="02020603050405020304" pitchFamily="18" charset="0"/>
              </a:rPr>
              <a:t>) is used for automated quiz question generation.</a:t>
            </a:r>
          </a:p>
          <a:p>
            <a:pPr lvl="1" algn="just">
              <a:lnSpc>
                <a:spcPct val="150000"/>
              </a:lnSpc>
              <a:buClr>
                <a:schemeClr val="tx1"/>
              </a:buClr>
              <a:buFont typeface="Arial" panose="020B0604020202020204" pitchFamily="34" charset="0"/>
              <a:buChar char="•"/>
            </a:pPr>
            <a:r>
              <a:rPr lang="en-IN" sz="1700" dirty="0">
                <a:solidFill>
                  <a:schemeClr val="tx1"/>
                </a:solidFill>
                <a:latin typeface="Times New Roman" panose="02020603050405020304" pitchFamily="18" charset="0"/>
                <a:cs typeface="Times New Roman" panose="02020603050405020304" pitchFamily="18" charset="0"/>
              </a:rPr>
              <a:t>The model processes topic-based inputs or PDF content and generates MCQ questions in a predefined format.</a:t>
            </a:r>
          </a:p>
          <a:p>
            <a:pPr algn="just">
              <a:lnSpc>
                <a:spcPct val="150000"/>
              </a:lnSpc>
              <a:buClr>
                <a:schemeClr val="tx1"/>
              </a:buClr>
              <a:buFont typeface="Wingdings" panose="05000000000000000000" pitchFamily="2" charset="2"/>
              <a:buChar char="Ø"/>
            </a:pPr>
            <a:r>
              <a:rPr lang="en-IN" sz="1700" b="1" dirty="0">
                <a:solidFill>
                  <a:schemeClr val="tx1"/>
                </a:solidFill>
                <a:latin typeface="Times New Roman" panose="02020603050405020304" pitchFamily="18" charset="0"/>
                <a:cs typeface="Times New Roman" panose="02020603050405020304" pitchFamily="18" charset="0"/>
              </a:rPr>
              <a:t>Tool Selection:</a:t>
            </a:r>
          </a:p>
          <a:p>
            <a:pPr lvl="1" algn="just">
              <a:lnSpc>
                <a:spcPct val="150000"/>
              </a:lnSpc>
              <a:buClr>
                <a:schemeClr val="tx1"/>
              </a:buClr>
              <a:buFont typeface="Arial" panose="020B0604020202020204" pitchFamily="34" charset="0"/>
              <a:buChar char="•"/>
            </a:pPr>
            <a:r>
              <a:rPr lang="en-IN" sz="1700" b="1" dirty="0">
                <a:solidFill>
                  <a:schemeClr val="tx1"/>
                </a:solidFill>
                <a:latin typeface="Times New Roman" panose="02020603050405020304" pitchFamily="18" charset="0"/>
                <a:cs typeface="Times New Roman" panose="02020603050405020304" pitchFamily="18" charset="0"/>
              </a:rPr>
              <a:t>Backend:</a:t>
            </a:r>
            <a:r>
              <a:rPr lang="en-IN" sz="1700" dirty="0">
                <a:solidFill>
                  <a:schemeClr val="tx1"/>
                </a:solidFill>
                <a:latin typeface="Times New Roman" panose="02020603050405020304" pitchFamily="18" charset="0"/>
                <a:cs typeface="Times New Roman" panose="02020603050405020304" pitchFamily="18" charset="0"/>
              </a:rPr>
              <a:t> Flask (Python 3.8)</a:t>
            </a:r>
          </a:p>
          <a:p>
            <a:pPr lvl="1" algn="just">
              <a:lnSpc>
                <a:spcPct val="150000"/>
              </a:lnSpc>
              <a:buClr>
                <a:schemeClr val="tx1"/>
              </a:buClr>
              <a:buFont typeface="Arial" panose="020B0604020202020204" pitchFamily="34" charset="0"/>
              <a:buChar char="•"/>
            </a:pPr>
            <a:r>
              <a:rPr lang="en-IN" sz="1700" b="1" dirty="0">
                <a:solidFill>
                  <a:schemeClr val="tx1"/>
                </a:solidFill>
                <a:latin typeface="Times New Roman" panose="02020603050405020304" pitchFamily="18" charset="0"/>
                <a:cs typeface="Times New Roman" panose="02020603050405020304" pitchFamily="18" charset="0"/>
              </a:rPr>
              <a:t>Database: </a:t>
            </a:r>
            <a:r>
              <a:rPr lang="en-IN" sz="1700" dirty="0">
                <a:solidFill>
                  <a:schemeClr val="tx1"/>
                </a:solidFill>
                <a:latin typeface="Times New Roman" panose="02020603050405020304" pitchFamily="18" charset="0"/>
                <a:cs typeface="Times New Roman" panose="02020603050405020304" pitchFamily="18" charset="0"/>
              </a:rPr>
              <a:t>MySQL</a:t>
            </a:r>
          </a:p>
          <a:p>
            <a:pPr lvl="1" algn="just">
              <a:lnSpc>
                <a:spcPct val="150000"/>
              </a:lnSpc>
              <a:buClr>
                <a:schemeClr val="tx1"/>
              </a:buClr>
              <a:buFont typeface="Arial" panose="020B0604020202020204" pitchFamily="34" charset="0"/>
              <a:buChar char="•"/>
            </a:pPr>
            <a:r>
              <a:rPr lang="en-IN" sz="1700" b="1" dirty="0">
                <a:solidFill>
                  <a:schemeClr val="tx1"/>
                </a:solidFill>
                <a:latin typeface="Times New Roman" panose="02020603050405020304" pitchFamily="18" charset="0"/>
                <a:cs typeface="Times New Roman" panose="02020603050405020304" pitchFamily="18" charset="0"/>
              </a:rPr>
              <a:t>Frontend:</a:t>
            </a:r>
            <a:r>
              <a:rPr lang="en-IN" sz="1700" dirty="0">
                <a:solidFill>
                  <a:schemeClr val="tx1"/>
                </a:solidFill>
                <a:latin typeface="Times New Roman" panose="02020603050405020304" pitchFamily="18" charset="0"/>
                <a:cs typeface="Times New Roman" panose="02020603050405020304" pitchFamily="18" charset="0"/>
              </a:rPr>
              <a:t> HTML5, CSS, Bootstrap V4.1.3, Jinja2 (Flask Templates)</a:t>
            </a:r>
          </a:p>
          <a:p>
            <a:pPr lvl="1" algn="just">
              <a:lnSpc>
                <a:spcPct val="150000"/>
              </a:lnSpc>
              <a:buClr>
                <a:schemeClr val="tx1"/>
              </a:buClr>
              <a:buFont typeface="Arial" panose="020B0604020202020204" pitchFamily="34" charset="0"/>
              <a:buChar char="•"/>
            </a:pPr>
            <a:r>
              <a:rPr lang="en-IN" sz="1700" b="1" dirty="0">
                <a:solidFill>
                  <a:schemeClr val="tx1"/>
                </a:solidFill>
                <a:latin typeface="Times New Roman" panose="02020603050405020304" pitchFamily="18" charset="0"/>
                <a:cs typeface="Times New Roman" panose="02020603050405020304" pitchFamily="18" charset="0"/>
              </a:rPr>
              <a:t>AI Integration: </a:t>
            </a:r>
            <a:r>
              <a:rPr lang="en-IN" sz="1700" dirty="0">
                <a:solidFill>
                  <a:schemeClr val="tx1"/>
                </a:solidFill>
                <a:latin typeface="Times New Roman" panose="02020603050405020304" pitchFamily="18" charset="0"/>
                <a:cs typeface="Times New Roman" panose="02020603050405020304" pitchFamily="18" charset="0"/>
              </a:rPr>
              <a:t>Google Gemini AI</a:t>
            </a:r>
          </a:p>
          <a:p>
            <a:pPr lvl="1" algn="just">
              <a:lnSpc>
                <a:spcPct val="150000"/>
              </a:lnSpc>
              <a:buClr>
                <a:schemeClr val="tx1"/>
              </a:buClr>
              <a:buFont typeface="Arial" panose="020B0604020202020204" pitchFamily="34" charset="0"/>
              <a:buChar char="•"/>
            </a:pPr>
            <a:r>
              <a:rPr lang="en-IN" sz="1700" b="1" dirty="0">
                <a:solidFill>
                  <a:schemeClr val="tx1"/>
                </a:solidFill>
                <a:latin typeface="Times New Roman" panose="02020603050405020304" pitchFamily="18" charset="0"/>
                <a:cs typeface="Times New Roman" panose="02020603050405020304" pitchFamily="18" charset="0"/>
              </a:rPr>
              <a:t>PDF Handling: </a:t>
            </a:r>
            <a:r>
              <a:rPr lang="en-IN" sz="1700" dirty="0">
                <a:solidFill>
                  <a:schemeClr val="tx1"/>
                </a:solidFill>
                <a:latin typeface="Times New Roman" panose="02020603050405020304" pitchFamily="18" charset="0"/>
                <a:cs typeface="Times New Roman" panose="02020603050405020304" pitchFamily="18" charset="0"/>
              </a:rPr>
              <a:t>PyPDF2</a:t>
            </a:r>
          </a:p>
        </p:txBody>
      </p:sp>
    </p:spTree>
    <p:extLst>
      <p:ext uri="{BB962C8B-B14F-4D97-AF65-F5344CB8AC3E}">
        <p14:creationId xmlns:p14="http://schemas.microsoft.com/office/powerpoint/2010/main" val="36026065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4755AD-4A15-A721-798C-36F64F32952A}"/>
              </a:ext>
            </a:extLst>
          </p:cNvPr>
          <p:cNvSpPr>
            <a:spLocks noGrp="1"/>
          </p:cNvSpPr>
          <p:nvPr>
            <p:ph idx="1"/>
          </p:nvPr>
        </p:nvSpPr>
        <p:spPr>
          <a:xfrm>
            <a:off x="1366537" y="190387"/>
            <a:ext cx="9458925" cy="3880773"/>
          </a:xfrm>
        </p:spPr>
        <p:txBody>
          <a:bodyPr>
            <a:normAutofit fontScale="25000" lnSpcReduction="20000"/>
          </a:bodyPr>
          <a:lstStyle/>
          <a:p>
            <a:pPr>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algn="just">
              <a:lnSpc>
                <a:spcPct val="170000"/>
              </a:lnSpc>
              <a:spcAft>
                <a:spcPts val="800"/>
              </a:spcAft>
              <a:buNone/>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 Setup and Configuration</a:t>
            </a:r>
            <a:endPar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1" algn="just">
              <a:lnSpc>
                <a:spcPct val="170000"/>
              </a:lnSpc>
              <a:spcAft>
                <a:spcPts val="800"/>
              </a:spcAft>
              <a:buClr>
                <a:schemeClr val="tx1"/>
              </a:buClr>
              <a:buFont typeface="Wingdings" panose="05000000000000000000" pitchFamily="2" charset="2"/>
              <a:buChar char="Ø"/>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Setting Up Libraries</a:t>
            </a:r>
            <a:endPar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2" algn="just">
              <a:lnSpc>
                <a:spcPct val="170000"/>
              </a:lnSpc>
              <a:spcAft>
                <a:spcPts val="800"/>
              </a:spcAft>
              <a:buClr>
                <a:schemeClr val="tx1"/>
              </a:buClr>
              <a:buFont typeface="Arial" panose="020B0604020202020204" pitchFamily="34" charset="0"/>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Flask:</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The web framework to handle HTTP requests and responses.</a:t>
            </a:r>
          </a:p>
          <a:p>
            <a:pPr lvl="2" algn="just">
              <a:lnSpc>
                <a:spcPct val="170000"/>
              </a:lnSpc>
              <a:spcAft>
                <a:spcPts val="800"/>
              </a:spcAft>
              <a:buClr>
                <a:schemeClr val="tx1"/>
              </a:buClr>
              <a:buFont typeface="Arial" panose="020B0604020202020204" pitchFamily="34" charset="0"/>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MySQL:</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Used as the database to store user details, questions, quiz results, etc.</a:t>
            </a:r>
          </a:p>
          <a:p>
            <a:pPr lvl="2" algn="just">
              <a:lnSpc>
                <a:spcPct val="170000"/>
              </a:lnSpc>
              <a:spcAft>
                <a:spcPts val="800"/>
              </a:spcAft>
              <a:buClr>
                <a:schemeClr val="tx1"/>
              </a:buClr>
              <a:buFont typeface="Arial" panose="020B0604020202020204" pitchFamily="34" charset="0"/>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Google Gemini AI:</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Integrated for automated quiz question generation based on topics or PDF content.</a:t>
            </a:r>
          </a:p>
          <a:p>
            <a:pPr lvl="2" algn="just">
              <a:lnSpc>
                <a:spcPct val="170000"/>
              </a:lnSpc>
              <a:spcAft>
                <a:spcPts val="800"/>
              </a:spcAft>
              <a:buClr>
                <a:schemeClr val="tx1"/>
              </a:buClr>
              <a:buFont typeface="Arial" panose="020B0604020202020204" pitchFamily="34" charset="0"/>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PyPDF2:</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Helps extract text from PDFs to generate questions dynamically.</a:t>
            </a:r>
          </a:p>
          <a:p>
            <a:pPr lvl="1" algn="just">
              <a:lnSpc>
                <a:spcPct val="170000"/>
              </a:lnSpc>
              <a:spcAft>
                <a:spcPts val="800"/>
              </a:spcAft>
              <a:buClr>
                <a:schemeClr val="tx1"/>
              </a:buClr>
              <a:buFont typeface="Wingdings" panose="05000000000000000000" pitchFamily="2" charset="2"/>
              <a:buChar char="Ø"/>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Configuring Backend &amp; Database</a:t>
            </a:r>
            <a:endPar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2" indent="-342900" algn="just">
              <a:lnSpc>
                <a:spcPct val="170000"/>
              </a:lnSpc>
              <a:spcAft>
                <a:spcPts val="800"/>
              </a:spcAft>
              <a:buClr>
                <a:schemeClr val="tx1"/>
              </a:buClr>
              <a:buFont typeface="Symbol" panose="05050102010706020507" pitchFamily="18" charset="2"/>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Flask connects</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to MySQL using </a:t>
            </a:r>
            <a:r>
              <a:rPr lang="en-IN" sz="68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flaskext.mysql</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enabling seamless data retrieval and storage.</a:t>
            </a:r>
          </a:p>
          <a:p>
            <a:pPr lvl="2" indent="-342900" algn="just">
              <a:lnSpc>
                <a:spcPct val="170000"/>
              </a:lnSpc>
              <a:spcAft>
                <a:spcPts val="800"/>
              </a:spcAft>
              <a:buClr>
                <a:schemeClr val="tx1"/>
              </a:buClr>
              <a:buFont typeface="Symbol" panose="05050102010706020507" pitchFamily="18" charset="2"/>
              <a:buChar char=""/>
              <a:tabLst>
                <a:tab pos="457200" algn="l"/>
              </a:tabLst>
            </a:pP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MySQL tables such as users, questions, tests, and leaderboard are created for structured data storage.</a:t>
            </a:r>
          </a:p>
        </p:txBody>
      </p:sp>
    </p:spTree>
    <p:extLst>
      <p:ext uri="{BB962C8B-B14F-4D97-AF65-F5344CB8AC3E}">
        <p14:creationId xmlns:p14="http://schemas.microsoft.com/office/powerpoint/2010/main" val="3310687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916264-A860-EFFC-BDD8-5999FB5D30D7}"/>
              </a:ext>
            </a:extLst>
          </p:cNvPr>
          <p:cNvSpPr>
            <a:spLocks noGrp="1"/>
          </p:cNvSpPr>
          <p:nvPr>
            <p:ph idx="1"/>
          </p:nvPr>
        </p:nvSpPr>
        <p:spPr>
          <a:xfrm>
            <a:off x="1329323" y="284655"/>
            <a:ext cx="9533353" cy="3880773"/>
          </a:xfrm>
        </p:spPr>
        <p:txBody>
          <a:bodyPr>
            <a:normAutofit fontScale="25000" lnSpcReduction="20000"/>
          </a:bodyPr>
          <a:lstStyle/>
          <a:p>
            <a:pPr algn="just">
              <a:lnSpc>
                <a:spcPct val="170000"/>
              </a:lnSpc>
              <a:spcAft>
                <a:spcPts val="800"/>
              </a:spcAft>
              <a:buNone/>
            </a:pPr>
            <a:r>
              <a:rPr lang="en-IN" sz="6800" b="1" kern="100" dirty="0">
                <a:effectLst/>
                <a:latin typeface="Times New Roman" panose="02020603050405020304" pitchFamily="18" charset="0"/>
                <a:ea typeface="Calibri" panose="020F0502020204030204" pitchFamily="34" charset="0"/>
                <a:cs typeface="Times New Roman" panose="02020603050405020304" pitchFamily="18" charset="0"/>
              </a:rPr>
              <a:t>3. </a:t>
            </a: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Chunking Strategy for Handling Quiz Data Efficiently</a:t>
            </a:r>
            <a:endPar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70000"/>
              </a:lnSpc>
              <a:spcAft>
                <a:spcPts val="800"/>
              </a:spcAft>
              <a:buClr>
                <a:schemeClr val="tx1"/>
              </a:buClr>
              <a:buFont typeface="Wingdings" panose="05000000000000000000" pitchFamily="2" charset="2"/>
              <a:buChar char="Ø"/>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Why Use Chunking?</a:t>
            </a:r>
            <a:endPar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70000"/>
              </a:lnSpc>
              <a:spcAft>
                <a:spcPts val="800"/>
              </a:spcAft>
              <a:buNone/>
            </a:pP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When dealing with </a:t>
            </a: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long PDFs or lengthy input text</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directly passing it to an AI model can cause:</a:t>
            </a:r>
          </a:p>
          <a:p>
            <a:pPr lvl="1" algn="just">
              <a:lnSpc>
                <a:spcPct val="170000"/>
              </a:lnSpc>
              <a:spcAft>
                <a:spcPts val="800"/>
              </a:spcAft>
              <a:buClr>
                <a:schemeClr val="tx1"/>
              </a:buClr>
              <a:buFont typeface="Arial" panose="020B0604020202020204" pitchFamily="34" charset="0"/>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API request limits</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(Gemini AI has input size constraints).</a:t>
            </a:r>
          </a:p>
          <a:p>
            <a:pPr lvl="1" algn="just">
              <a:lnSpc>
                <a:spcPct val="170000"/>
              </a:lnSpc>
              <a:spcAft>
                <a:spcPts val="800"/>
              </a:spcAft>
              <a:buClr>
                <a:schemeClr val="tx1"/>
              </a:buClr>
              <a:buFont typeface="Arial" panose="020B0604020202020204" pitchFamily="34" charset="0"/>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Processing inefficiency</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as large inputs may lead to poor question generation.</a:t>
            </a:r>
          </a:p>
          <a:p>
            <a:pPr algn="just">
              <a:lnSpc>
                <a:spcPct val="170000"/>
              </a:lnSpc>
              <a:spcAft>
                <a:spcPts val="800"/>
              </a:spcAft>
              <a:buClr>
                <a:schemeClr val="tx1"/>
              </a:buClr>
              <a:buFont typeface="Wingdings" panose="05000000000000000000" pitchFamily="2" charset="2"/>
              <a:buChar char="Ø"/>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How Chunking Works?</a:t>
            </a:r>
            <a:endPar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1" algn="just">
              <a:lnSpc>
                <a:spcPct val="170000"/>
              </a:lnSpc>
              <a:spcAft>
                <a:spcPts val="800"/>
              </a:spcAft>
              <a:buClr>
                <a:schemeClr val="tx1"/>
              </a:buClr>
              <a:buFont typeface="Arial" panose="020B0604020202020204" pitchFamily="34" charset="0"/>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Step 1:</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Extract </a:t>
            </a: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text from PDFs</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page by page.</a:t>
            </a:r>
          </a:p>
          <a:p>
            <a:pPr lvl="1" algn="just">
              <a:lnSpc>
                <a:spcPct val="170000"/>
              </a:lnSpc>
              <a:spcAft>
                <a:spcPts val="800"/>
              </a:spcAft>
              <a:buClr>
                <a:schemeClr val="tx1"/>
              </a:buClr>
              <a:buFont typeface="Arial" panose="020B0604020202020204" pitchFamily="34" charset="0"/>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Step 2:</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Split extracted text into </a:t>
            </a: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smaller chunks</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(e.g., every 1000 characters).</a:t>
            </a:r>
          </a:p>
          <a:p>
            <a:pPr lvl="1" algn="just">
              <a:lnSpc>
                <a:spcPct val="170000"/>
              </a:lnSpc>
              <a:spcAft>
                <a:spcPts val="800"/>
              </a:spcAft>
              <a:buClr>
                <a:schemeClr val="tx1"/>
              </a:buClr>
              <a:buFont typeface="Arial" panose="020B0604020202020204" pitchFamily="34" charset="0"/>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Step 3:</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Each chunk is sent separately to the AI model to generate </a:t>
            </a: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multiple sets of questions</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p>
          <a:p>
            <a:pPr lvl="1" algn="just">
              <a:lnSpc>
                <a:spcPct val="170000"/>
              </a:lnSpc>
              <a:spcAft>
                <a:spcPts val="800"/>
              </a:spcAft>
              <a:buClr>
                <a:schemeClr val="tx1"/>
              </a:buClr>
              <a:buFont typeface="Arial" panose="020B0604020202020204" pitchFamily="34" charset="0"/>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Step 4:</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The results are </a:t>
            </a: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merged into a final question set</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and stored in the database.</a:t>
            </a:r>
          </a:p>
          <a:p>
            <a:pPr marL="0" indent="0">
              <a:lnSpc>
                <a:spcPct val="107000"/>
              </a:lnSpc>
              <a:spcAft>
                <a:spcPts val="800"/>
              </a:spcAft>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909803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6B9057-D77E-57EC-A5CE-ACD14BF9FB4C}"/>
              </a:ext>
            </a:extLst>
          </p:cNvPr>
          <p:cNvSpPr>
            <a:spLocks noGrp="1"/>
          </p:cNvSpPr>
          <p:nvPr>
            <p:ph idx="1"/>
          </p:nvPr>
        </p:nvSpPr>
        <p:spPr>
          <a:xfrm>
            <a:off x="1253909" y="633445"/>
            <a:ext cx="9684181" cy="3880773"/>
          </a:xfrm>
        </p:spPr>
        <p:txBody>
          <a:bodyPr>
            <a:normAutofit fontScale="25000" lnSpcReduction="20000"/>
          </a:bodyPr>
          <a:lstStyle/>
          <a:p>
            <a:pPr algn="just">
              <a:lnSpc>
                <a:spcPct val="170000"/>
              </a:lnSpc>
              <a:spcAft>
                <a:spcPts val="800"/>
              </a:spcAft>
              <a:buNone/>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4. Developing the Backend Application</a:t>
            </a:r>
            <a:endPar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algn="just">
              <a:lnSpc>
                <a:spcPct val="170000"/>
              </a:lnSpc>
              <a:spcAft>
                <a:spcPts val="800"/>
              </a:spcAft>
              <a:buClr>
                <a:schemeClr val="tx1"/>
              </a:buClr>
              <a:buFont typeface="Arial" panose="020B0604020202020204" pitchFamily="34" charset="0"/>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User Authentication Module:</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Handles login, registration, and role-based access.</a:t>
            </a:r>
          </a:p>
          <a:p>
            <a:pPr lvl="0" algn="just">
              <a:lnSpc>
                <a:spcPct val="170000"/>
              </a:lnSpc>
              <a:spcAft>
                <a:spcPts val="800"/>
              </a:spcAft>
              <a:buClr>
                <a:schemeClr val="tx1"/>
              </a:buClr>
              <a:buFont typeface="Arial" panose="020B0604020202020204" pitchFamily="34" charset="0"/>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AI Quiz Generator Module: </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Takes text input, generates questions, and stores them in MySQL.</a:t>
            </a:r>
          </a:p>
          <a:p>
            <a:pPr lvl="0" algn="just">
              <a:lnSpc>
                <a:spcPct val="170000"/>
              </a:lnSpc>
              <a:spcAft>
                <a:spcPts val="800"/>
              </a:spcAft>
              <a:buClr>
                <a:schemeClr val="tx1"/>
              </a:buClr>
              <a:buFont typeface="Arial" panose="020B0604020202020204" pitchFamily="34" charset="0"/>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Quiz Management Module: </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Allows users to attempt quizzes, submit answers, and track scores.</a:t>
            </a:r>
          </a:p>
          <a:p>
            <a:pPr lvl="0" algn="just">
              <a:lnSpc>
                <a:spcPct val="170000"/>
              </a:lnSpc>
              <a:spcAft>
                <a:spcPts val="800"/>
              </a:spcAft>
              <a:buClr>
                <a:schemeClr val="tx1"/>
              </a:buClr>
              <a:buFont typeface="Arial" panose="020B0604020202020204" pitchFamily="34" charset="0"/>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Leaderboard Module: </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Updates and ranks candidates based on quiz performance.</a:t>
            </a:r>
          </a:p>
          <a:p>
            <a:pPr lvl="0" algn="just">
              <a:lnSpc>
                <a:spcPct val="170000"/>
              </a:lnSpc>
              <a:spcAft>
                <a:spcPts val="800"/>
              </a:spcAft>
              <a:buClr>
                <a:schemeClr val="tx1"/>
              </a:buClr>
              <a:buFont typeface="Arial" panose="020B0604020202020204" pitchFamily="34" charset="0"/>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Admin &amp; Paper Setter Module: </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Admins approve paper setters, and paper setters manage quiz content.</a:t>
            </a:r>
          </a:p>
          <a:p>
            <a:pPr>
              <a:buClr>
                <a:schemeClr val="tx1"/>
              </a:buClr>
            </a:pPr>
            <a:endParaRPr lang="en-IN" dirty="0"/>
          </a:p>
        </p:txBody>
      </p:sp>
    </p:spTree>
    <p:extLst>
      <p:ext uri="{BB962C8B-B14F-4D97-AF65-F5344CB8AC3E}">
        <p14:creationId xmlns:p14="http://schemas.microsoft.com/office/powerpoint/2010/main" val="26264870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618F7-41B2-0B31-70A9-52EFA3445C09}"/>
              </a:ext>
            </a:extLst>
          </p:cNvPr>
          <p:cNvSpPr>
            <a:spLocks noGrp="1"/>
          </p:cNvSpPr>
          <p:nvPr>
            <p:ph type="title"/>
          </p:nvPr>
        </p:nvSpPr>
        <p:spPr>
          <a:xfrm>
            <a:off x="1797666" y="154029"/>
            <a:ext cx="8596668" cy="662609"/>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TECHNOLOGIES</a:t>
            </a:r>
          </a:p>
        </p:txBody>
      </p:sp>
      <p:sp>
        <p:nvSpPr>
          <p:cNvPr id="3" name="Content Placeholder 2">
            <a:extLst>
              <a:ext uri="{FF2B5EF4-FFF2-40B4-BE49-F238E27FC236}">
                <a16:creationId xmlns:a16="http://schemas.microsoft.com/office/drawing/2014/main" id="{44B5E832-14CD-026E-AD54-8987C318A7AC}"/>
              </a:ext>
            </a:extLst>
          </p:cNvPr>
          <p:cNvSpPr>
            <a:spLocks noGrp="1"/>
          </p:cNvSpPr>
          <p:nvPr>
            <p:ph idx="1"/>
          </p:nvPr>
        </p:nvSpPr>
        <p:spPr>
          <a:xfrm>
            <a:off x="1097354" y="1059600"/>
            <a:ext cx="9997292" cy="3880773"/>
          </a:xfrm>
        </p:spPr>
        <p:txBody>
          <a:bodyPr>
            <a:normAutofit fontScale="25000" lnSpcReduction="20000"/>
          </a:bodyPr>
          <a:lstStyle/>
          <a:p>
            <a:pPr marL="342900" lvl="0" indent="-342900" algn="just">
              <a:lnSpc>
                <a:spcPct val="170000"/>
              </a:lnSpc>
              <a:spcAft>
                <a:spcPts val="800"/>
              </a:spcAft>
              <a:buClr>
                <a:schemeClr val="tx1"/>
              </a:buClr>
              <a:buFont typeface="Symbol" panose="05050102010706020507" pitchFamily="18" charset="2"/>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Python</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Core programming language for the backend.</a:t>
            </a:r>
          </a:p>
          <a:p>
            <a:pPr marL="342900" lvl="0" indent="-342900" algn="just">
              <a:lnSpc>
                <a:spcPct val="170000"/>
              </a:lnSpc>
              <a:spcAft>
                <a:spcPts val="800"/>
              </a:spcAft>
              <a:buClr>
                <a:schemeClr val="tx1"/>
              </a:buClr>
              <a:buFont typeface="Symbol" panose="05050102010706020507" pitchFamily="18" charset="2"/>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Flask</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Micro web framework used for backend development.</a:t>
            </a:r>
          </a:p>
          <a:p>
            <a:pPr marL="342900" lvl="0" indent="-342900" algn="just">
              <a:lnSpc>
                <a:spcPct val="170000"/>
              </a:lnSpc>
              <a:spcAft>
                <a:spcPts val="800"/>
              </a:spcAft>
              <a:buClr>
                <a:schemeClr val="tx1"/>
              </a:buClr>
              <a:buFont typeface="Symbol" panose="05050102010706020507" pitchFamily="18" charset="2"/>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Flask-MySQL</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Used for integrating Flask with MySQL database.</a:t>
            </a:r>
          </a:p>
          <a:p>
            <a:pPr marL="342900" lvl="0" indent="-342900" algn="just">
              <a:lnSpc>
                <a:spcPct val="170000"/>
              </a:lnSpc>
              <a:spcAft>
                <a:spcPts val="800"/>
              </a:spcAft>
              <a:buClr>
                <a:schemeClr val="tx1"/>
              </a:buClr>
              <a:buFont typeface="Symbol" panose="05050102010706020507" pitchFamily="18" charset="2"/>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MySQL</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Relational database for storing user data, quiz questions, and results.</a:t>
            </a:r>
          </a:p>
          <a:p>
            <a:pPr marL="342900" lvl="0" indent="-342900" algn="just">
              <a:lnSpc>
                <a:spcPct val="170000"/>
              </a:lnSpc>
              <a:spcAft>
                <a:spcPts val="800"/>
              </a:spcAft>
              <a:buClr>
                <a:schemeClr val="tx1"/>
              </a:buClr>
              <a:buFont typeface="Symbol" panose="05050102010706020507" pitchFamily="18" charset="2"/>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Google Gemini AI</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AI model for generating MCQ questions based on text or PDF input.</a:t>
            </a:r>
          </a:p>
          <a:p>
            <a:pPr marL="342900" lvl="0" indent="-342900" algn="just">
              <a:lnSpc>
                <a:spcPct val="170000"/>
              </a:lnSpc>
              <a:spcAft>
                <a:spcPts val="800"/>
              </a:spcAft>
              <a:buClr>
                <a:schemeClr val="tx1"/>
              </a:buClr>
              <a:buFont typeface="Symbol" panose="05050102010706020507" pitchFamily="18" charset="2"/>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PyPDF2</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Library for extracting text from PDFs to process with AI.</a:t>
            </a:r>
          </a:p>
          <a:p>
            <a:pPr marL="342900" lvl="0" indent="-342900" algn="just">
              <a:lnSpc>
                <a:spcPct val="170000"/>
              </a:lnSpc>
              <a:spcAft>
                <a:spcPts val="800"/>
              </a:spcAft>
              <a:buClr>
                <a:schemeClr val="tx1"/>
              </a:buClr>
              <a:buFont typeface="Symbol" panose="05050102010706020507" pitchFamily="18" charset="2"/>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HTML, CSS, Bootstrap</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Frontend technologies for UI design and responsiveness.</a:t>
            </a:r>
          </a:p>
          <a:p>
            <a:pPr marL="342900" lvl="0" indent="-342900" algn="just">
              <a:lnSpc>
                <a:spcPct val="170000"/>
              </a:lnSpc>
              <a:spcAft>
                <a:spcPts val="800"/>
              </a:spcAft>
              <a:buClr>
                <a:schemeClr val="tx1"/>
              </a:buClr>
              <a:buFont typeface="Symbol" panose="05050102010706020507" pitchFamily="18" charset="2"/>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Jinja2</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Template engine for rendering dynamic HTML pages in Flask.</a:t>
            </a:r>
          </a:p>
          <a:p>
            <a:pPr marL="342900" lvl="0" indent="-342900" algn="just">
              <a:lnSpc>
                <a:spcPct val="170000"/>
              </a:lnSpc>
              <a:spcAft>
                <a:spcPts val="800"/>
              </a:spcAft>
              <a:buClr>
                <a:schemeClr val="tx1"/>
              </a:buClr>
              <a:buFont typeface="Symbol" panose="05050102010706020507" pitchFamily="18" charset="2"/>
              <a:buChar char=""/>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Flask Sessions</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Manages user sessions and authentication.</a:t>
            </a:r>
          </a:p>
          <a:p>
            <a:pPr marL="0" indent="0" algn="just">
              <a:buNone/>
            </a:pPr>
            <a:endParaRPr lang="en-IN" dirty="0"/>
          </a:p>
        </p:txBody>
      </p:sp>
    </p:spTree>
    <p:extLst>
      <p:ext uri="{BB962C8B-B14F-4D97-AF65-F5344CB8AC3E}">
        <p14:creationId xmlns:p14="http://schemas.microsoft.com/office/powerpoint/2010/main" val="1656120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88C1B-BCB5-C8CB-B80D-E612FEC39483}"/>
              </a:ext>
            </a:extLst>
          </p:cNvPr>
          <p:cNvSpPr>
            <a:spLocks noGrp="1"/>
          </p:cNvSpPr>
          <p:nvPr>
            <p:ph type="title"/>
          </p:nvPr>
        </p:nvSpPr>
        <p:spPr>
          <a:xfrm>
            <a:off x="1797665" y="122548"/>
            <a:ext cx="8596668" cy="632791"/>
          </a:xfrm>
        </p:spPr>
        <p:txBody>
          <a:bodyPr>
            <a:noAutofit/>
          </a:bodyPr>
          <a:lstStyle/>
          <a:p>
            <a:pPr algn="ctr"/>
            <a:r>
              <a:rPr lang="en-IN" b="1" dirty="0">
                <a:solidFill>
                  <a:schemeClr val="tx1"/>
                </a:solidFill>
                <a:latin typeface="Times New Roman" panose="02020603050405020304" pitchFamily="18" charset="0"/>
                <a:cs typeface="Times New Roman" panose="02020603050405020304" pitchFamily="18" charset="0"/>
              </a:rPr>
              <a:t>METHODOLOGIES</a:t>
            </a:r>
          </a:p>
        </p:txBody>
      </p:sp>
      <p:sp>
        <p:nvSpPr>
          <p:cNvPr id="3" name="Content Placeholder 2">
            <a:extLst>
              <a:ext uri="{FF2B5EF4-FFF2-40B4-BE49-F238E27FC236}">
                <a16:creationId xmlns:a16="http://schemas.microsoft.com/office/drawing/2014/main" id="{14FF472C-FEC1-4A78-6D09-9DBCEC67AB4B}"/>
              </a:ext>
            </a:extLst>
          </p:cNvPr>
          <p:cNvSpPr>
            <a:spLocks noGrp="1"/>
          </p:cNvSpPr>
          <p:nvPr>
            <p:ph idx="1"/>
          </p:nvPr>
        </p:nvSpPr>
        <p:spPr>
          <a:xfrm>
            <a:off x="827801" y="1019434"/>
            <a:ext cx="10536397" cy="3880773"/>
          </a:xfrm>
        </p:spPr>
        <p:txBody>
          <a:bodyPr>
            <a:normAutofit fontScale="25000" lnSpcReduction="20000"/>
          </a:bodyPr>
          <a:lstStyle/>
          <a:p>
            <a:pPr algn="just">
              <a:lnSpc>
                <a:spcPct val="170000"/>
              </a:lnSpc>
              <a:spcAft>
                <a:spcPts val="800"/>
              </a:spcAft>
              <a:buClr>
                <a:schemeClr val="tx1"/>
              </a:buClr>
              <a:buSzPct val="100000"/>
              <a:buFont typeface="Arial" panose="020B0604020202020204" pitchFamily="34" charset="0"/>
              <a:buChar char="•"/>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CRUD Operations: </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Implemented for managing users, questions, and leaderboard. </a:t>
            </a:r>
          </a:p>
          <a:p>
            <a:pPr algn="just">
              <a:lnSpc>
                <a:spcPct val="170000"/>
              </a:lnSpc>
              <a:spcAft>
                <a:spcPts val="800"/>
              </a:spcAft>
              <a:buClr>
                <a:schemeClr val="tx1"/>
              </a:buClr>
              <a:buSzPct val="100000"/>
              <a:buFont typeface="Arial" panose="020B0604020202020204" pitchFamily="34" charset="0"/>
              <a:buChar char="•"/>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Authentication &amp; Authorization: </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Login, session-based authentication, and role-based access control. </a:t>
            </a:r>
          </a:p>
          <a:p>
            <a:pPr algn="just">
              <a:lnSpc>
                <a:spcPct val="170000"/>
              </a:lnSpc>
              <a:spcAft>
                <a:spcPts val="800"/>
              </a:spcAft>
              <a:buClr>
                <a:schemeClr val="tx1"/>
              </a:buClr>
              <a:buSzPct val="100000"/>
              <a:buFont typeface="Arial" panose="020B0604020202020204" pitchFamily="34" charset="0"/>
              <a:buChar char="•"/>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MVC Architecture: </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Separates Model (database), View (frontend), and Controller (Flask logic). </a:t>
            </a:r>
          </a:p>
          <a:p>
            <a:pPr algn="just">
              <a:lnSpc>
                <a:spcPct val="170000"/>
              </a:lnSpc>
              <a:spcAft>
                <a:spcPts val="800"/>
              </a:spcAft>
              <a:buClr>
                <a:schemeClr val="tx1"/>
              </a:buClr>
              <a:buSzPct val="100000"/>
              <a:buFont typeface="Arial" panose="020B0604020202020204" pitchFamily="34" charset="0"/>
              <a:buChar char="•"/>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RESTful API Design: </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Provides structured endpoints for fetching and updating quiz data. </a:t>
            </a:r>
          </a:p>
          <a:p>
            <a:pPr algn="just">
              <a:lnSpc>
                <a:spcPct val="170000"/>
              </a:lnSpc>
              <a:spcAft>
                <a:spcPts val="800"/>
              </a:spcAft>
              <a:buClr>
                <a:schemeClr val="tx1"/>
              </a:buClr>
              <a:buSzPct val="100000"/>
              <a:buFont typeface="Arial" panose="020B0604020202020204" pitchFamily="34" charset="0"/>
              <a:buChar char="•"/>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Chunking Strategy: </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Splits large PDFs into smaller text sections for efficient AI processing. </a:t>
            </a:r>
          </a:p>
          <a:p>
            <a:pPr algn="just">
              <a:lnSpc>
                <a:spcPct val="170000"/>
              </a:lnSpc>
              <a:spcAft>
                <a:spcPts val="800"/>
              </a:spcAft>
              <a:buClr>
                <a:schemeClr val="tx1"/>
              </a:buClr>
              <a:buSzPct val="100000"/>
              <a:buFont typeface="Arial" panose="020B0604020202020204" pitchFamily="34" charset="0"/>
              <a:buChar char="•"/>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Data Normalization</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Organizes database tables to eliminate redundancy and improve efficiency. </a:t>
            </a:r>
          </a:p>
          <a:p>
            <a:pPr algn="just">
              <a:lnSpc>
                <a:spcPct val="170000"/>
              </a:lnSpc>
              <a:spcAft>
                <a:spcPts val="800"/>
              </a:spcAft>
              <a:buClr>
                <a:schemeClr val="tx1"/>
              </a:buClr>
              <a:buSzPct val="100000"/>
              <a:buFont typeface="Arial" panose="020B0604020202020204" pitchFamily="34" charset="0"/>
              <a:buChar char="•"/>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Role-Based Access Control (RBAC): </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Restricts functionalities based on Admin, Paper Setter, and Candidate roles.</a:t>
            </a:r>
          </a:p>
          <a:p>
            <a:pPr algn="just">
              <a:lnSpc>
                <a:spcPct val="170000"/>
              </a:lnSpc>
              <a:buClr>
                <a:schemeClr val="tx1"/>
              </a:buClr>
              <a:buSzPct val="100000"/>
              <a:buFont typeface="Arial" panose="020B0604020202020204" pitchFamily="34" charset="0"/>
              <a:buChar char="•"/>
            </a:pPr>
            <a:r>
              <a:rPr lang="en-US" sz="6800" b="1" dirty="0">
                <a:solidFill>
                  <a:schemeClr val="tx1"/>
                </a:solidFill>
                <a:latin typeface="Times New Roman" panose="02020603050405020304" pitchFamily="18" charset="0"/>
                <a:cs typeface="Times New Roman" panose="02020603050405020304" pitchFamily="18" charset="0"/>
              </a:rPr>
              <a:t>Security Measures: </a:t>
            </a:r>
            <a:r>
              <a:rPr lang="en-US" sz="6800" dirty="0">
                <a:solidFill>
                  <a:schemeClr val="tx1"/>
                </a:solidFill>
                <a:latin typeface="Times New Roman" panose="02020603050405020304" pitchFamily="18" charset="0"/>
                <a:cs typeface="Times New Roman" panose="02020603050405020304" pitchFamily="18" charset="0"/>
              </a:rPr>
              <a:t>Uses a secret key for session security, parameterized queries to prevent SQL injection</a:t>
            </a:r>
            <a:endPar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70000"/>
              </a:lnSpc>
              <a:spcAft>
                <a:spcPts val="800"/>
              </a:spcAft>
              <a:buClr>
                <a:schemeClr val="tx1"/>
              </a:buClr>
              <a:buSzPct val="100000"/>
              <a:buFont typeface="Arial" panose="020B0604020202020204" pitchFamily="34" charset="0"/>
              <a:buChar char="•"/>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Leaderboard Ranking Algorithm</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Dynamically updates and ranks users based on quiz performance. </a:t>
            </a:r>
          </a:p>
          <a:p>
            <a:pPr algn="just">
              <a:lnSpc>
                <a:spcPct val="170000"/>
              </a:lnSpc>
              <a:spcAft>
                <a:spcPts val="800"/>
              </a:spcAft>
              <a:buClr>
                <a:schemeClr val="tx1"/>
              </a:buClr>
              <a:buSzPct val="100000"/>
              <a:buFont typeface="Arial" panose="020B0604020202020204" pitchFamily="34" charset="0"/>
              <a:buChar char="•"/>
            </a:pPr>
            <a:endParaRPr lang="en-IN" sz="6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20372891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3D99B-4137-45F4-2E54-A98B77792514}"/>
              </a:ext>
            </a:extLst>
          </p:cNvPr>
          <p:cNvSpPr>
            <a:spLocks noGrp="1"/>
          </p:cNvSpPr>
          <p:nvPr>
            <p:ph type="title"/>
          </p:nvPr>
        </p:nvSpPr>
        <p:spPr>
          <a:xfrm>
            <a:off x="674941" y="84841"/>
            <a:ext cx="10842118" cy="642730"/>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DETAILS OF DATABASE</a:t>
            </a:r>
          </a:p>
        </p:txBody>
      </p:sp>
      <p:sp>
        <p:nvSpPr>
          <p:cNvPr id="3" name="Content Placeholder 2">
            <a:extLst>
              <a:ext uri="{FF2B5EF4-FFF2-40B4-BE49-F238E27FC236}">
                <a16:creationId xmlns:a16="http://schemas.microsoft.com/office/drawing/2014/main" id="{D5272813-7810-570E-A250-BB23F50F161D}"/>
              </a:ext>
            </a:extLst>
          </p:cNvPr>
          <p:cNvSpPr>
            <a:spLocks noGrp="1"/>
          </p:cNvSpPr>
          <p:nvPr>
            <p:ph idx="1"/>
          </p:nvPr>
        </p:nvSpPr>
        <p:spPr>
          <a:xfrm>
            <a:off x="1797666" y="906681"/>
            <a:ext cx="8596668" cy="3880773"/>
          </a:xfrm>
        </p:spPr>
        <p:txBody>
          <a:bodyPr>
            <a:noAutofit/>
          </a:bodyPr>
          <a:lstStyle/>
          <a:p>
            <a:pPr algn="just">
              <a:lnSpc>
                <a:spcPct val="150000"/>
              </a:lnSpc>
              <a:spcAft>
                <a:spcPts val="800"/>
              </a:spcAft>
              <a:buClr>
                <a:schemeClr val="tx1"/>
              </a:buClr>
              <a:buSzPct val="100000"/>
              <a:buFont typeface="Arial" panose="020B0604020202020204" pitchFamily="34" charset="0"/>
              <a:buChar char="•"/>
            </a:pPr>
            <a:r>
              <a:rPr lang="en-IN" sz="17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AI Based Quiz System’s database consists of 5 primary tables:</a:t>
            </a:r>
            <a:endParaRPr lang="en-IN" sz="17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1" indent="-342900" algn="just">
              <a:lnSpc>
                <a:spcPct val="150000"/>
              </a:lnSpc>
              <a:spcAft>
                <a:spcPts val="800"/>
              </a:spcAft>
              <a:buClr>
                <a:schemeClr val="tx1"/>
              </a:buClr>
              <a:buFont typeface="+mj-lt"/>
              <a:buAutoNum type="arabicPeriod"/>
              <a:tabLst>
                <a:tab pos="457200" algn="l"/>
              </a:tabLst>
            </a:pPr>
            <a:r>
              <a:rPr lang="en-IN" sz="17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Users</a:t>
            </a:r>
            <a:r>
              <a:rPr lang="en-IN" sz="17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Stores user details and roles.</a:t>
            </a:r>
          </a:p>
          <a:p>
            <a:pPr lvl="1" indent="-342900" algn="just">
              <a:lnSpc>
                <a:spcPct val="150000"/>
              </a:lnSpc>
              <a:spcAft>
                <a:spcPts val="800"/>
              </a:spcAft>
              <a:buClr>
                <a:schemeClr val="tx1"/>
              </a:buClr>
              <a:buFont typeface="+mj-lt"/>
              <a:buAutoNum type="arabicPeriod"/>
              <a:tabLst>
                <a:tab pos="457200" algn="l"/>
              </a:tabLst>
            </a:pPr>
            <a:r>
              <a:rPr lang="en-IN" sz="17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Questions</a:t>
            </a:r>
            <a:r>
              <a:rPr lang="en-IN" sz="17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Contains quiz questions and options.</a:t>
            </a:r>
          </a:p>
          <a:p>
            <a:pPr lvl="1" indent="-342900" algn="just">
              <a:lnSpc>
                <a:spcPct val="150000"/>
              </a:lnSpc>
              <a:spcAft>
                <a:spcPts val="800"/>
              </a:spcAft>
              <a:buClr>
                <a:schemeClr val="tx1"/>
              </a:buClr>
              <a:buFont typeface="+mj-lt"/>
              <a:buAutoNum type="arabicPeriod"/>
              <a:tabLst>
                <a:tab pos="457200" algn="l"/>
              </a:tabLst>
            </a:pPr>
            <a:r>
              <a:rPr lang="en-IN" sz="17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Tests</a:t>
            </a:r>
            <a:r>
              <a:rPr lang="en-IN" sz="17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Manages different quizzes and subjects.</a:t>
            </a:r>
          </a:p>
          <a:p>
            <a:pPr lvl="1" indent="-342900" algn="just">
              <a:lnSpc>
                <a:spcPct val="150000"/>
              </a:lnSpc>
              <a:spcAft>
                <a:spcPts val="800"/>
              </a:spcAft>
              <a:buClr>
                <a:schemeClr val="tx1"/>
              </a:buClr>
              <a:buFont typeface="+mj-lt"/>
              <a:buAutoNum type="arabicPeriod"/>
              <a:tabLst>
                <a:tab pos="457200" algn="l"/>
              </a:tabLst>
            </a:pPr>
            <a:r>
              <a:rPr lang="en-IN" sz="17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Leaderboard</a:t>
            </a:r>
            <a:r>
              <a:rPr lang="en-IN" sz="17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Tracks candidate scores and rankings.</a:t>
            </a:r>
          </a:p>
          <a:p>
            <a:pPr lvl="1" indent="-342900" algn="just">
              <a:lnSpc>
                <a:spcPct val="150000"/>
              </a:lnSpc>
              <a:spcAft>
                <a:spcPts val="800"/>
              </a:spcAft>
              <a:buClr>
                <a:schemeClr val="tx1"/>
              </a:buClr>
              <a:buFont typeface="+mj-lt"/>
              <a:buAutoNum type="arabicPeriod"/>
              <a:tabLst>
                <a:tab pos="457200" algn="l"/>
              </a:tabLst>
            </a:pPr>
            <a:r>
              <a:rPr lang="en-IN" sz="1700" b="1"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Pending_Paper_Setters</a:t>
            </a:r>
            <a:r>
              <a:rPr lang="en-IN" sz="17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Holds requests for paper setter approvals.</a:t>
            </a:r>
          </a:p>
          <a:p>
            <a:pPr algn="just">
              <a:lnSpc>
                <a:spcPct val="150000"/>
              </a:lnSpc>
              <a:spcAft>
                <a:spcPts val="800"/>
              </a:spcAft>
              <a:buClr>
                <a:schemeClr val="tx1"/>
              </a:buClr>
              <a:buSzPct val="100000"/>
              <a:buFont typeface="Arial" panose="020B0604020202020204" pitchFamily="34" charset="0"/>
              <a:buChar char="•"/>
            </a:pPr>
            <a:r>
              <a:rPr lang="en-IN" sz="17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User Input Data Includes:</a:t>
            </a:r>
            <a:endParaRPr lang="en-IN" sz="17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lvl="1" indent="-342900" algn="just">
              <a:lnSpc>
                <a:spcPct val="150000"/>
              </a:lnSpc>
              <a:spcAft>
                <a:spcPts val="800"/>
              </a:spcAft>
              <a:buClr>
                <a:schemeClr val="tx1"/>
              </a:buClr>
              <a:buFont typeface="+mj-lt"/>
              <a:buAutoNum type="arabicPeriod"/>
              <a:tabLst>
                <a:tab pos="457200" algn="l"/>
              </a:tabLst>
            </a:pPr>
            <a:r>
              <a:rPr lang="en-IN" sz="17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First Name &amp; Last Name</a:t>
            </a:r>
            <a:r>
              <a:rPr lang="en-IN" sz="17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User’s personal identification details.</a:t>
            </a:r>
          </a:p>
          <a:p>
            <a:pPr lvl="1" indent="-342900" algn="just">
              <a:lnSpc>
                <a:spcPct val="150000"/>
              </a:lnSpc>
              <a:spcAft>
                <a:spcPts val="800"/>
              </a:spcAft>
              <a:buClr>
                <a:schemeClr val="tx1"/>
              </a:buClr>
              <a:buFont typeface="+mj-lt"/>
              <a:buAutoNum type="arabicPeriod"/>
              <a:tabLst>
                <a:tab pos="457200" algn="l"/>
              </a:tabLst>
            </a:pPr>
            <a:r>
              <a:rPr lang="en-IN" sz="17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Email</a:t>
            </a:r>
            <a:r>
              <a:rPr lang="en-IN" sz="17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Unique identifier used for login authentication.</a:t>
            </a:r>
          </a:p>
          <a:p>
            <a:pPr lvl="1" indent="-342900" algn="just">
              <a:lnSpc>
                <a:spcPct val="150000"/>
              </a:lnSpc>
              <a:spcAft>
                <a:spcPts val="800"/>
              </a:spcAft>
              <a:buClr>
                <a:schemeClr val="tx1"/>
              </a:buClr>
              <a:buFont typeface="+mj-lt"/>
              <a:buAutoNum type="arabicPeriod"/>
              <a:tabLst>
                <a:tab pos="457200" algn="l"/>
              </a:tabLst>
            </a:pPr>
            <a:endParaRPr lang="en-IN" sz="17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800100" lvl="2" indent="0" algn="just">
              <a:lnSpc>
                <a:spcPct val="150000"/>
              </a:lnSpc>
              <a:spcAft>
                <a:spcPts val="800"/>
              </a:spcAft>
              <a:buClr>
                <a:schemeClr val="tx1"/>
              </a:buClr>
              <a:buNone/>
              <a:tabLst>
                <a:tab pos="457200" algn="l"/>
              </a:tabLst>
            </a:pPr>
            <a:endParaRPr lang="en-IN" sz="13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60000"/>
              </a:lnSpc>
              <a:buClr>
                <a:schemeClr val="tx1"/>
              </a:buClr>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3299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07AC5-CEC2-E0BF-4127-19BE0DD11BBF}"/>
              </a:ext>
            </a:extLst>
          </p:cNvPr>
          <p:cNvSpPr>
            <a:spLocks noGrp="1"/>
          </p:cNvSpPr>
          <p:nvPr>
            <p:ph type="title"/>
          </p:nvPr>
        </p:nvSpPr>
        <p:spPr>
          <a:xfrm>
            <a:off x="1797666" y="150829"/>
            <a:ext cx="8596668" cy="974978"/>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DETAILS OF DATABASE</a:t>
            </a:r>
            <a:endParaRPr lang="en-IN" dirty="0"/>
          </a:p>
        </p:txBody>
      </p:sp>
      <p:sp>
        <p:nvSpPr>
          <p:cNvPr id="3" name="Content Placeholder 2">
            <a:extLst>
              <a:ext uri="{FF2B5EF4-FFF2-40B4-BE49-F238E27FC236}">
                <a16:creationId xmlns:a16="http://schemas.microsoft.com/office/drawing/2014/main" id="{3B9446C2-2541-87F5-D8A8-A294B292786F}"/>
              </a:ext>
            </a:extLst>
          </p:cNvPr>
          <p:cNvSpPr>
            <a:spLocks noGrp="1"/>
          </p:cNvSpPr>
          <p:nvPr>
            <p:ph idx="1"/>
          </p:nvPr>
        </p:nvSpPr>
        <p:spPr>
          <a:xfrm>
            <a:off x="1797666" y="944532"/>
            <a:ext cx="8596668" cy="3880773"/>
          </a:xfrm>
        </p:spPr>
        <p:txBody>
          <a:bodyPr>
            <a:normAutofit fontScale="25000" lnSpcReduction="20000"/>
          </a:bodyPr>
          <a:lstStyle/>
          <a:p>
            <a:pPr algn="just">
              <a:lnSpc>
                <a:spcPct val="170000"/>
              </a:lnSpc>
              <a:spcAft>
                <a:spcPts val="800"/>
              </a:spcAft>
              <a:buClr>
                <a:schemeClr val="tx1"/>
              </a:buClr>
              <a:buSzPct val="100000"/>
              <a:buFont typeface="Arial" panose="020B0604020202020204" pitchFamily="34" charset="0"/>
              <a:buChar char="•"/>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User Input Data Includes:</a:t>
            </a:r>
            <a:endPar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algn="just">
              <a:lnSpc>
                <a:spcPct val="170000"/>
              </a:lnSpc>
              <a:spcAft>
                <a:spcPts val="800"/>
              </a:spcAft>
              <a:buClr>
                <a:schemeClr val="tx1"/>
              </a:buClr>
              <a:buNone/>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3. Password</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Encrypted credential for secure access.</a:t>
            </a:r>
          </a:p>
          <a:p>
            <a:pPr marL="0" lvl="0" indent="0" algn="just">
              <a:lnSpc>
                <a:spcPct val="170000"/>
              </a:lnSpc>
              <a:spcAft>
                <a:spcPts val="800"/>
              </a:spcAft>
              <a:buClr>
                <a:schemeClr val="tx1"/>
              </a:buClr>
              <a:buNone/>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4. Gender</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Demographic data for user profile.</a:t>
            </a:r>
          </a:p>
          <a:p>
            <a:pPr marL="0" lvl="0" indent="0" algn="just">
              <a:lnSpc>
                <a:spcPct val="170000"/>
              </a:lnSpc>
              <a:spcAft>
                <a:spcPts val="800"/>
              </a:spcAft>
              <a:buClr>
                <a:schemeClr val="tx1"/>
              </a:buClr>
              <a:buNone/>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5. Date of Birth</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Used for registration and verification.</a:t>
            </a:r>
          </a:p>
          <a:p>
            <a:pPr marL="0" lvl="0" indent="0" algn="just">
              <a:lnSpc>
                <a:spcPct val="170000"/>
              </a:lnSpc>
              <a:spcAft>
                <a:spcPts val="800"/>
              </a:spcAft>
              <a:buClr>
                <a:schemeClr val="tx1"/>
              </a:buClr>
              <a:buNone/>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6. Username</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Unique display name for leaderboard and quiz tracking.</a:t>
            </a:r>
          </a:p>
          <a:p>
            <a:pPr marL="0" lvl="0" indent="0" algn="just">
              <a:lnSpc>
                <a:spcPct val="170000"/>
              </a:lnSpc>
              <a:spcAft>
                <a:spcPts val="800"/>
              </a:spcAft>
              <a:buClr>
                <a:schemeClr val="tx1"/>
              </a:buClr>
              <a:buNone/>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7. Phone Number</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Contact information for user management.</a:t>
            </a:r>
          </a:p>
          <a:p>
            <a:pPr marL="0" lvl="0" indent="0" algn="just">
              <a:lnSpc>
                <a:spcPct val="170000"/>
              </a:lnSpc>
              <a:spcAft>
                <a:spcPts val="800"/>
              </a:spcAft>
              <a:buClr>
                <a:schemeClr val="tx1"/>
              </a:buClr>
              <a:buNone/>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8. Role</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Defines user type (Admin, Paper Setter, Candidate).</a:t>
            </a:r>
          </a:p>
          <a:p>
            <a:pPr marL="0" lvl="0" indent="0" algn="just">
              <a:lnSpc>
                <a:spcPct val="170000"/>
              </a:lnSpc>
              <a:spcAft>
                <a:spcPts val="800"/>
              </a:spcAft>
              <a:buClr>
                <a:schemeClr val="tx1"/>
              </a:buClr>
              <a:buNone/>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9. Test Selection</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Users select a quiz/test to attempt.</a:t>
            </a:r>
          </a:p>
          <a:p>
            <a:pPr marL="0" lvl="0" indent="0" algn="just">
              <a:lnSpc>
                <a:spcPct val="170000"/>
              </a:lnSpc>
              <a:spcAft>
                <a:spcPts val="800"/>
              </a:spcAft>
              <a:buClr>
                <a:schemeClr val="tx1"/>
              </a:buClr>
              <a:buNone/>
              <a:tabLst>
                <a:tab pos="457200" algn="l"/>
              </a:tabLst>
            </a:pPr>
            <a:r>
              <a:rPr lang="en-IN" sz="68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10. Quiz Answers</a:t>
            </a:r>
            <a:r>
              <a:rPr lang="en-IN" sz="6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 User-submitted responses stored for evaluation.</a:t>
            </a:r>
          </a:p>
          <a:p>
            <a:pPr marL="0" indent="0">
              <a:buNone/>
            </a:pPr>
            <a:endParaRPr lang="en-IN" dirty="0"/>
          </a:p>
        </p:txBody>
      </p:sp>
    </p:spTree>
    <p:extLst>
      <p:ext uri="{BB962C8B-B14F-4D97-AF65-F5344CB8AC3E}">
        <p14:creationId xmlns:p14="http://schemas.microsoft.com/office/powerpoint/2010/main" val="24944858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0910B-1E8A-0A06-BFE6-7D262D992150}"/>
              </a:ext>
            </a:extLst>
          </p:cNvPr>
          <p:cNvSpPr>
            <a:spLocks noGrp="1"/>
          </p:cNvSpPr>
          <p:nvPr>
            <p:ph type="title"/>
          </p:nvPr>
        </p:nvSpPr>
        <p:spPr>
          <a:xfrm>
            <a:off x="1797666" y="172473"/>
            <a:ext cx="8596668" cy="644165"/>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IMPLEMENTATION</a:t>
            </a:r>
          </a:p>
        </p:txBody>
      </p:sp>
      <p:pic>
        <p:nvPicPr>
          <p:cNvPr id="5" name="Picture 4">
            <a:extLst>
              <a:ext uri="{FF2B5EF4-FFF2-40B4-BE49-F238E27FC236}">
                <a16:creationId xmlns:a16="http://schemas.microsoft.com/office/drawing/2014/main" id="{1A7FB756-C82F-CAB3-C8D5-70E95CFF10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859" y="816638"/>
            <a:ext cx="11556281" cy="5687857"/>
          </a:xfrm>
          <a:prstGeom prst="rect">
            <a:avLst/>
          </a:prstGeom>
        </p:spPr>
      </p:pic>
    </p:spTree>
    <p:extLst>
      <p:ext uri="{BB962C8B-B14F-4D97-AF65-F5344CB8AC3E}">
        <p14:creationId xmlns:p14="http://schemas.microsoft.com/office/powerpoint/2010/main" val="29783059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34394-571D-DF2D-8D19-3F9AC04B53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2F9730-F690-1835-404F-BC6B99EF7F3B}"/>
              </a:ext>
            </a:extLst>
          </p:cNvPr>
          <p:cNvSpPr>
            <a:spLocks noGrp="1"/>
          </p:cNvSpPr>
          <p:nvPr>
            <p:ph type="title"/>
          </p:nvPr>
        </p:nvSpPr>
        <p:spPr>
          <a:xfrm>
            <a:off x="1797666" y="172473"/>
            <a:ext cx="8596668" cy="644165"/>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IMPLEMENTATIONS</a:t>
            </a:r>
          </a:p>
        </p:txBody>
      </p:sp>
      <p:pic>
        <p:nvPicPr>
          <p:cNvPr id="4" name="Picture 3">
            <a:extLst>
              <a:ext uri="{FF2B5EF4-FFF2-40B4-BE49-F238E27FC236}">
                <a16:creationId xmlns:a16="http://schemas.microsoft.com/office/drawing/2014/main" id="{0C455131-1E3B-0F73-58AD-5FF64E5EFD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871" y="928344"/>
            <a:ext cx="11442258" cy="5613858"/>
          </a:xfrm>
          <a:prstGeom prst="rect">
            <a:avLst/>
          </a:prstGeom>
        </p:spPr>
      </p:pic>
    </p:spTree>
    <p:extLst>
      <p:ext uri="{BB962C8B-B14F-4D97-AF65-F5344CB8AC3E}">
        <p14:creationId xmlns:p14="http://schemas.microsoft.com/office/powerpoint/2010/main" val="27360789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C24B7-649D-33E8-6C03-C42EBAAE46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2E999B-9F3F-B9E1-B0F9-3DC80E8025B3}"/>
              </a:ext>
            </a:extLst>
          </p:cNvPr>
          <p:cNvSpPr>
            <a:spLocks noGrp="1"/>
          </p:cNvSpPr>
          <p:nvPr>
            <p:ph type="title"/>
          </p:nvPr>
        </p:nvSpPr>
        <p:spPr>
          <a:xfrm>
            <a:off x="1797666" y="172473"/>
            <a:ext cx="8596668" cy="644165"/>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IMPLEMENTATIONS</a:t>
            </a:r>
          </a:p>
        </p:txBody>
      </p:sp>
      <p:pic>
        <p:nvPicPr>
          <p:cNvPr id="4" name="Picture 3">
            <a:extLst>
              <a:ext uri="{FF2B5EF4-FFF2-40B4-BE49-F238E27FC236}">
                <a16:creationId xmlns:a16="http://schemas.microsoft.com/office/drawing/2014/main" id="{0D1D039C-3080-167E-72A1-250F3830A3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877" y="914548"/>
            <a:ext cx="11580245" cy="5618228"/>
          </a:xfrm>
          <a:prstGeom prst="rect">
            <a:avLst/>
          </a:prstGeom>
        </p:spPr>
      </p:pic>
    </p:spTree>
    <p:extLst>
      <p:ext uri="{BB962C8B-B14F-4D97-AF65-F5344CB8AC3E}">
        <p14:creationId xmlns:p14="http://schemas.microsoft.com/office/powerpoint/2010/main" val="38584525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5E219-3176-FC8D-F39F-DB1E61D9C661}"/>
              </a:ext>
            </a:extLst>
          </p:cNvPr>
          <p:cNvSpPr>
            <a:spLocks noGrp="1"/>
          </p:cNvSpPr>
          <p:nvPr>
            <p:ph type="title"/>
          </p:nvPr>
        </p:nvSpPr>
        <p:spPr>
          <a:xfrm>
            <a:off x="1797666" y="609600"/>
            <a:ext cx="8596668" cy="1320800"/>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DA1A7120-270B-A748-36BF-824AB6E59DA3}"/>
              </a:ext>
            </a:extLst>
          </p:cNvPr>
          <p:cNvSpPr>
            <a:spLocks noGrp="1"/>
          </p:cNvSpPr>
          <p:nvPr>
            <p:ph idx="1"/>
          </p:nvPr>
        </p:nvSpPr>
        <p:spPr>
          <a:xfrm>
            <a:off x="754145" y="1930400"/>
            <a:ext cx="10982226" cy="3880773"/>
          </a:xfrm>
        </p:spPr>
        <p:txBody>
          <a:bodyPr>
            <a:noAutofit/>
          </a:bodyPr>
          <a:lstStyle/>
          <a:p>
            <a:pPr marL="0" indent="0" algn="just">
              <a:lnSpc>
                <a:spcPct val="150000"/>
              </a:lnSpc>
              <a:buClr>
                <a:schemeClr val="tx1"/>
              </a:buClr>
              <a:buNone/>
            </a:pPr>
            <a:r>
              <a:rPr lang="en-US" sz="2000" dirty="0">
                <a:solidFill>
                  <a:schemeClr val="tx1"/>
                </a:solidFill>
                <a:latin typeface="Times New Roman" panose="02020603050405020304" pitchFamily="18" charset="0"/>
                <a:cs typeface="Times New Roman" panose="02020603050405020304" pitchFamily="18" charset="0"/>
              </a:rPr>
              <a:t>The system streamlines user authentication and session management, ensuring secure and seamless access for users. It efficiently handles quiz creation, editing, and deletion, making it easy for educators and administrators to manage assessments. Real-time scoring and instant feedback enhance the user experience, providing learners with immediate insights into their performance. Additionally, the platform supports dynamic leaderboards, fostering a competitive learning environment that motivates users to improve. Designed to be both secure and scalable, the system is an ideal solution for online assessments and learning, ensuring reliability and efficiency in the digital education landscape.</a:t>
            </a:r>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53123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C9599-4038-C85E-6E1D-608FA2C2B34D}"/>
              </a:ext>
            </a:extLst>
          </p:cNvPr>
          <p:cNvSpPr>
            <a:spLocks noGrp="1"/>
          </p:cNvSpPr>
          <p:nvPr>
            <p:ph type="title"/>
          </p:nvPr>
        </p:nvSpPr>
        <p:spPr>
          <a:xfrm>
            <a:off x="1797666" y="0"/>
            <a:ext cx="8596668" cy="602974"/>
          </a:xfrm>
        </p:spPr>
        <p:txBody>
          <a:bodyPr>
            <a:noAutofit/>
          </a:bodyPr>
          <a:lstStyle/>
          <a:p>
            <a:pPr algn="ctr"/>
            <a:r>
              <a:rPr lang="en-IN" b="1" dirty="0">
                <a:solidFill>
                  <a:schemeClr val="tx1"/>
                </a:solidFill>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8DF3FA10-16F0-7C28-8096-030DC83228E3}"/>
              </a:ext>
            </a:extLst>
          </p:cNvPr>
          <p:cNvSpPr>
            <a:spLocks noGrp="1"/>
          </p:cNvSpPr>
          <p:nvPr>
            <p:ph idx="1"/>
          </p:nvPr>
        </p:nvSpPr>
        <p:spPr>
          <a:xfrm>
            <a:off x="923419" y="863919"/>
            <a:ext cx="10345162" cy="3880773"/>
          </a:xfrm>
        </p:spPr>
        <p:txBody>
          <a:bodyPr>
            <a:noAutofit/>
          </a:bodyPr>
          <a:lstStyle/>
          <a:p>
            <a:pPr marL="0" indent="0" algn="just">
              <a:lnSpc>
                <a:spcPct val="150000"/>
              </a:lnSpc>
              <a:buNone/>
            </a:pPr>
            <a:r>
              <a:rPr lang="en-IN" sz="1700" dirty="0">
                <a:solidFill>
                  <a:schemeClr val="tx1"/>
                </a:solidFill>
                <a:latin typeface="Times New Roman" panose="02020603050405020304" pitchFamily="18" charset="0"/>
                <a:cs typeface="Times New Roman" panose="02020603050405020304" pitchFamily="18" charset="0"/>
              </a:rPr>
              <a:t>[1] “AI-BASED QUIZ SYSTEM FOR PERSONALISED LEARNING”, Xia Wang, Silke </a:t>
            </a:r>
            <a:r>
              <a:rPr lang="en-IN" sz="1700" dirty="0" err="1">
                <a:solidFill>
                  <a:schemeClr val="tx1"/>
                </a:solidFill>
                <a:latin typeface="Times New Roman" panose="02020603050405020304" pitchFamily="18" charset="0"/>
                <a:cs typeface="Times New Roman" panose="02020603050405020304" pitchFamily="18" charset="0"/>
              </a:rPr>
              <a:t>Wrede,Lars</a:t>
            </a:r>
            <a:r>
              <a:rPr lang="en-IN" sz="1700" dirty="0">
                <a:solidFill>
                  <a:schemeClr val="tx1"/>
                </a:solidFill>
                <a:latin typeface="Times New Roman" panose="02020603050405020304" pitchFamily="18" charset="0"/>
                <a:cs typeface="Times New Roman" panose="02020603050405020304" pitchFamily="18" charset="0"/>
              </a:rPr>
              <a:t> van Rijn, Joachim </a:t>
            </a:r>
            <a:r>
              <a:rPr lang="en-IN" sz="1700" dirty="0" err="1">
                <a:solidFill>
                  <a:schemeClr val="tx1"/>
                </a:solidFill>
                <a:latin typeface="Times New Roman" panose="02020603050405020304" pitchFamily="18" charset="0"/>
                <a:cs typeface="Times New Roman" panose="02020603050405020304" pitchFamily="18" charset="0"/>
              </a:rPr>
              <a:t>Wöhrle</a:t>
            </a:r>
            <a:r>
              <a:rPr lang="en-IN" sz="1700" dirty="0">
                <a:solidFill>
                  <a:schemeClr val="tx1"/>
                </a:solidFill>
                <a:latin typeface="Times New Roman" panose="02020603050405020304" pitchFamily="18" charset="0"/>
                <a:cs typeface="Times New Roman" panose="02020603050405020304" pitchFamily="18" charset="0"/>
              </a:rPr>
              <a:t> in 16th annual International Conference of Education, Research and Innovation, November 2024. </a:t>
            </a:r>
          </a:p>
          <a:p>
            <a:pPr marL="0" indent="0" algn="just">
              <a:lnSpc>
                <a:spcPct val="150000"/>
              </a:lnSpc>
              <a:buNone/>
            </a:pPr>
            <a:r>
              <a:rPr lang="en-IN" sz="1700" dirty="0">
                <a:solidFill>
                  <a:schemeClr val="tx1"/>
                </a:solidFill>
                <a:latin typeface="Times New Roman" panose="02020603050405020304" pitchFamily="18" charset="0"/>
                <a:cs typeface="Times New Roman" panose="02020603050405020304" pitchFamily="18" charset="0"/>
              </a:rPr>
              <a:t>[2] “AUTOMATIC GENERATION OF MULTIPLE CHOICE QUESTIONS FOR E-ASSESSMENT”:  A. </a:t>
            </a:r>
            <a:r>
              <a:rPr lang="en-IN" sz="1700" dirty="0" err="1">
                <a:solidFill>
                  <a:schemeClr val="tx1"/>
                </a:solidFill>
                <a:latin typeface="Times New Roman" panose="02020603050405020304" pitchFamily="18" charset="0"/>
                <a:cs typeface="Times New Roman" panose="02020603050405020304" pitchFamily="18" charset="0"/>
              </a:rPr>
              <a:t>Santhanavijayan</a:t>
            </a:r>
            <a:r>
              <a:rPr lang="en-IN" sz="1700" dirty="0">
                <a:solidFill>
                  <a:schemeClr val="tx1"/>
                </a:solidFill>
                <a:latin typeface="Times New Roman" panose="02020603050405020304" pitchFamily="18" charset="0"/>
                <a:cs typeface="Times New Roman" panose="02020603050405020304" pitchFamily="18" charset="0"/>
              </a:rPr>
              <a:t>*, S.R. </a:t>
            </a:r>
            <a:r>
              <a:rPr lang="en-IN" sz="1700" dirty="0" err="1">
                <a:solidFill>
                  <a:schemeClr val="tx1"/>
                </a:solidFill>
                <a:latin typeface="Times New Roman" panose="02020603050405020304" pitchFamily="18" charset="0"/>
                <a:cs typeface="Times New Roman" panose="02020603050405020304" pitchFamily="18" charset="0"/>
              </a:rPr>
              <a:t>Balasundaram</a:t>
            </a:r>
            <a:r>
              <a:rPr lang="en-IN" sz="1700" dirty="0">
                <a:solidFill>
                  <a:schemeClr val="tx1"/>
                </a:solidFill>
                <a:latin typeface="Times New Roman" panose="02020603050405020304" pitchFamily="18" charset="0"/>
                <a:cs typeface="Times New Roman" panose="02020603050405020304" pitchFamily="18" charset="0"/>
              </a:rPr>
              <a:t>, S. Hari Narayanan, S. Vinod Kumar and V. Vignesh Prasad in International Journal of Signal and Imaging Systems Engineering · January 2017.</a:t>
            </a:r>
          </a:p>
          <a:p>
            <a:pPr marL="0" indent="0" algn="just">
              <a:lnSpc>
                <a:spcPct val="150000"/>
              </a:lnSpc>
              <a:buNone/>
            </a:pPr>
            <a:r>
              <a:rPr lang="en-IN" sz="1700" dirty="0">
                <a:solidFill>
                  <a:schemeClr val="tx1"/>
                </a:solidFill>
                <a:latin typeface="Times New Roman" panose="02020603050405020304" pitchFamily="18" charset="0"/>
                <a:cs typeface="Times New Roman" panose="02020603050405020304" pitchFamily="18" charset="0"/>
              </a:rPr>
              <a:t>[3] “</a:t>
            </a:r>
            <a:r>
              <a:rPr lang="it-IT" sz="1700" dirty="0">
                <a:solidFill>
                  <a:schemeClr val="tx1"/>
                </a:solidFill>
                <a:latin typeface="Times New Roman" panose="02020603050405020304" pitchFamily="18" charset="0"/>
                <a:cs typeface="Times New Roman" panose="02020603050405020304" pitchFamily="18" charset="0"/>
              </a:rPr>
              <a:t>GENERATING AI LITERACY MCQS: A MULTI-AGENT LLM APPROACH</a:t>
            </a:r>
            <a:r>
              <a:rPr lang="en-IN" sz="1700" dirty="0">
                <a:solidFill>
                  <a:schemeClr val="tx1"/>
                </a:solidFill>
                <a:latin typeface="Times New Roman" panose="02020603050405020304" pitchFamily="18" charset="0"/>
                <a:cs typeface="Times New Roman" panose="02020603050405020304" pitchFamily="18" charset="0"/>
              </a:rPr>
              <a:t>”: Jiayi Wang, </a:t>
            </a:r>
            <a:r>
              <a:rPr lang="en-IN" sz="1700" dirty="0" err="1">
                <a:solidFill>
                  <a:schemeClr val="tx1"/>
                </a:solidFill>
                <a:latin typeface="Times New Roman" panose="02020603050405020304" pitchFamily="18" charset="0"/>
                <a:cs typeface="Times New Roman" panose="02020603050405020304" pitchFamily="18" charset="0"/>
              </a:rPr>
              <a:t>Ruiwei</a:t>
            </a:r>
            <a:r>
              <a:rPr lang="en-IN" sz="1700" dirty="0">
                <a:solidFill>
                  <a:schemeClr val="tx1"/>
                </a:solidFill>
                <a:latin typeface="Times New Roman" panose="02020603050405020304" pitchFamily="18" charset="0"/>
                <a:cs typeface="Times New Roman" panose="02020603050405020304" pitchFamily="18" charset="0"/>
              </a:rPr>
              <a:t> Xiao, Ying-Jui Tseng, November 2024.</a:t>
            </a:r>
          </a:p>
          <a:p>
            <a:pPr marL="0" indent="0" algn="just">
              <a:lnSpc>
                <a:spcPct val="150000"/>
              </a:lnSpc>
              <a:buNone/>
            </a:pPr>
            <a:r>
              <a:rPr lang="en-IN" sz="1700" dirty="0">
                <a:solidFill>
                  <a:schemeClr val="tx1"/>
                </a:solidFill>
                <a:latin typeface="Times New Roman" panose="02020603050405020304" pitchFamily="18" charset="0"/>
                <a:cs typeface="Times New Roman" panose="02020603050405020304" pitchFamily="18" charset="0"/>
              </a:rPr>
              <a:t>[4] “</a:t>
            </a:r>
            <a:r>
              <a:rPr lang="en-US" sz="1700" dirty="0">
                <a:solidFill>
                  <a:schemeClr val="tx1"/>
                </a:solidFill>
                <a:latin typeface="Times New Roman" panose="02020603050405020304" pitchFamily="18" charset="0"/>
                <a:cs typeface="Times New Roman" panose="02020603050405020304" pitchFamily="18" charset="0"/>
              </a:rPr>
              <a:t>DESIGN OF ONLINE QUIZ SYSTEM FOR PRACTICE &amp; ASSESSMENT DURING COVID-19</a:t>
            </a:r>
            <a:r>
              <a:rPr lang="en-IN" sz="1700" dirty="0">
                <a:solidFill>
                  <a:schemeClr val="tx1"/>
                </a:solidFill>
                <a:latin typeface="Times New Roman" panose="02020603050405020304" pitchFamily="18" charset="0"/>
                <a:cs typeface="Times New Roman" panose="02020603050405020304" pitchFamily="18" charset="0"/>
              </a:rPr>
              <a:t>”, </a:t>
            </a:r>
            <a:r>
              <a:rPr lang="en-IN" sz="1700" dirty="0" err="1">
                <a:solidFill>
                  <a:schemeClr val="tx1"/>
                </a:solidFill>
                <a:latin typeface="Times New Roman" panose="02020603050405020304" pitchFamily="18" charset="0"/>
                <a:cs typeface="Times New Roman" panose="02020603050405020304" pitchFamily="18" charset="0"/>
              </a:rPr>
              <a:t>Kapeel</a:t>
            </a:r>
            <a:r>
              <a:rPr lang="en-IN" sz="1700" dirty="0">
                <a:solidFill>
                  <a:schemeClr val="tx1"/>
                </a:solidFill>
                <a:latin typeface="Times New Roman" panose="02020603050405020304" pitchFamily="18" charset="0"/>
                <a:cs typeface="Times New Roman" panose="02020603050405020304" pitchFamily="18" charset="0"/>
              </a:rPr>
              <a:t> Dev,  Rajesh Kumar, Imran </a:t>
            </a:r>
            <a:r>
              <a:rPr lang="en-IN" sz="1700" dirty="0" err="1">
                <a:solidFill>
                  <a:schemeClr val="tx1"/>
                </a:solidFill>
                <a:latin typeface="Times New Roman" panose="02020603050405020304" pitchFamily="18" charset="0"/>
                <a:cs typeface="Times New Roman" panose="02020603050405020304" pitchFamily="18" charset="0"/>
              </a:rPr>
              <a:t>saeed</a:t>
            </a:r>
            <a:r>
              <a:rPr lang="en-IN" sz="1700" dirty="0">
                <a:solidFill>
                  <a:schemeClr val="tx1"/>
                </a:solidFill>
                <a:latin typeface="Times New Roman" panose="02020603050405020304" pitchFamily="18" charset="0"/>
                <a:cs typeface="Times New Roman" panose="02020603050405020304" pitchFamily="18" charset="0"/>
              </a:rPr>
              <a:t>, Farooq Iqbal, Khalid Hussain, S. Madeeha Zaidi, M. Waqas Pasha6 in </a:t>
            </a:r>
            <a:r>
              <a:rPr lang="en-US" sz="1700" dirty="0">
                <a:solidFill>
                  <a:schemeClr val="tx1"/>
                </a:solidFill>
                <a:latin typeface="Times New Roman" panose="02020603050405020304" pitchFamily="18" charset="0"/>
                <a:cs typeface="Times New Roman" panose="02020603050405020304" pitchFamily="18" charset="0"/>
              </a:rPr>
              <a:t>International Journal of Advanced Trends in Computer Science and Engineering, August 2021.</a:t>
            </a:r>
          </a:p>
          <a:p>
            <a:pPr marL="0" indent="0" algn="just">
              <a:lnSpc>
                <a:spcPct val="150000"/>
              </a:lnSpc>
              <a:buNone/>
            </a:pPr>
            <a:r>
              <a:rPr lang="en-US" sz="1700" dirty="0">
                <a:solidFill>
                  <a:schemeClr val="tx1"/>
                </a:solidFill>
                <a:latin typeface="Times New Roman" panose="02020603050405020304" pitchFamily="18" charset="0"/>
                <a:cs typeface="Times New Roman" panose="02020603050405020304" pitchFamily="18" charset="0"/>
              </a:rPr>
              <a:t>[5] “QUIZME: AN AI-POWERED QUIZ GENERATION  SYSTEM”, Prof. Abhishek </a:t>
            </a:r>
            <a:r>
              <a:rPr lang="en-US" sz="1700" dirty="0" err="1">
                <a:solidFill>
                  <a:schemeClr val="tx1"/>
                </a:solidFill>
                <a:latin typeface="Times New Roman" panose="02020603050405020304" pitchFamily="18" charset="0"/>
                <a:cs typeface="Times New Roman" panose="02020603050405020304" pitchFamily="18" charset="0"/>
              </a:rPr>
              <a:t>Shivhare</a:t>
            </a:r>
            <a:r>
              <a:rPr lang="en-US" sz="1700" dirty="0">
                <a:solidFill>
                  <a:schemeClr val="tx1"/>
                </a:solidFill>
                <a:latin typeface="Times New Roman" panose="02020603050405020304" pitchFamily="18" charset="0"/>
                <a:cs typeface="Times New Roman" panose="02020603050405020304" pitchFamily="18" charset="0"/>
              </a:rPr>
              <a:t>, Rohan Kumar Saini, Rishabh, Harshit Mahavar, Mukul Sharma in International Journal of Novel </a:t>
            </a:r>
            <a:r>
              <a:rPr lang="en-US" sz="1700" dirty="0" err="1">
                <a:solidFill>
                  <a:schemeClr val="tx1"/>
                </a:solidFill>
                <a:latin typeface="Times New Roman" panose="02020603050405020304" pitchFamily="18" charset="0"/>
                <a:cs typeface="Times New Roman" panose="02020603050405020304" pitchFamily="18" charset="0"/>
              </a:rPr>
              <a:t>Reasearch</a:t>
            </a:r>
            <a:r>
              <a:rPr lang="en-US" sz="1700" dirty="0">
                <a:solidFill>
                  <a:schemeClr val="tx1"/>
                </a:solidFill>
                <a:latin typeface="Times New Roman" panose="02020603050405020304" pitchFamily="18" charset="0"/>
                <a:cs typeface="Times New Roman" panose="02020603050405020304" pitchFamily="18" charset="0"/>
              </a:rPr>
              <a:t> and Development , April 2024.</a:t>
            </a:r>
            <a:endParaRPr lang="en-IN" sz="1700" dirty="0">
              <a:solidFill>
                <a:schemeClr val="tx1"/>
              </a:solidFill>
            </a:endParaRPr>
          </a:p>
        </p:txBody>
      </p:sp>
    </p:spTree>
    <p:extLst>
      <p:ext uri="{BB962C8B-B14F-4D97-AF65-F5344CB8AC3E}">
        <p14:creationId xmlns:p14="http://schemas.microsoft.com/office/powerpoint/2010/main" val="7330826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51B1A-D3A0-C3FA-9237-E0DE73C8E2DC}"/>
              </a:ext>
            </a:extLst>
          </p:cNvPr>
          <p:cNvSpPr>
            <a:spLocks noGrp="1"/>
          </p:cNvSpPr>
          <p:nvPr>
            <p:ph type="title"/>
          </p:nvPr>
        </p:nvSpPr>
        <p:spPr>
          <a:xfrm>
            <a:off x="1797666" y="210180"/>
            <a:ext cx="8596668" cy="729006"/>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44FB41EB-E5BD-BED4-CC86-B309308C0B9E}"/>
              </a:ext>
            </a:extLst>
          </p:cNvPr>
          <p:cNvSpPr>
            <a:spLocks noGrp="1"/>
          </p:cNvSpPr>
          <p:nvPr>
            <p:ph idx="1"/>
          </p:nvPr>
        </p:nvSpPr>
        <p:spPr>
          <a:xfrm>
            <a:off x="948267" y="1415871"/>
            <a:ext cx="10024533" cy="3880773"/>
          </a:xfrm>
        </p:spPr>
        <p:txBody>
          <a:bodyPr>
            <a:normAutofit/>
          </a:bodyPr>
          <a:lstStyle/>
          <a:p>
            <a:pPr marL="0" indent="0" algn="just">
              <a:lnSpc>
                <a:spcPct val="150000"/>
              </a:lnSpc>
              <a:buNone/>
            </a:pPr>
            <a:r>
              <a:rPr lang="en-IN" sz="1700" dirty="0">
                <a:solidFill>
                  <a:schemeClr val="tx1"/>
                </a:solidFill>
                <a:latin typeface="Times New Roman" panose="02020603050405020304" pitchFamily="18" charset="0"/>
                <a:cs typeface="Times New Roman" panose="02020603050405020304" pitchFamily="18" charset="0"/>
              </a:rPr>
              <a:t>[6] “</a:t>
            </a:r>
            <a:r>
              <a:rPr lang="en-US" sz="1700" dirty="0">
                <a:solidFill>
                  <a:schemeClr val="tx1"/>
                </a:solidFill>
                <a:latin typeface="Times New Roman" panose="02020603050405020304" pitchFamily="18" charset="0"/>
                <a:cs typeface="Times New Roman" panose="02020603050405020304" pitchFamily="18" charset="0"/>
              </a:rPr>
              <a:t>AUTOMATIC MCQ GENERATION USING MACHINE LEARNING ALGORITHM</a:t>
            </a:r>
            <a:r>
              <a:rPr lang="en-IN" sz="1700" dirty="0">
                <a:solidFill>
                  <a:schemeClr val="tx1"/>
                </a:solidFill>
                <a:latin typeface="Times New Roman" panose="02020603050405020304" pitchFamily="18" charset="0"/>
                <a:cs typeface="Times New Roman" panose="02020603050405020304" pitchFamily="18" charset="0"/>
              </a:rPr>
              <a:t>” : </a:t>
            </a:r>
            <a:r>
              <a:rPr lang="nn-NO" sz="1700" dirty="0">
                <a:solidFill>
                  <a:schemeClr val="tx1"/>
                </a:solidFill>
                <a:latin typeface="Times New Roman" panose="02020603050405020304" pitchFamily="18" charset="0"/>
                <a:cs typeface="Times New Roman" panose="02020603050405020304" pitchFamily="18" charset="0"/>
              </a:rPr>
              <a:t>Ganesh Wani, Kulashri Kale, Deep Kale , Shivam Shinde in </a:t>
            </a:r>
            <a:r>
              <a:rPr lang="en-US" sz="1700" dirty="0">
                <a:solidFill>
                  <a:schemeClr val="tx1"/>
                </a:solidFill>
                <a:latin typeface="Times New Roman" panose="02020603050405020304" pitchFamily="18" charset="0"/>
                <a:cs typeface="Times New Roman" panose="02020603050405020304" pitchFamily="18" charset="0"/>
              </a:rPr>
              <a:t> International Research Journal of Engineering and Technology, June 2024.</a:t>
            </a:r>
          </a:p>
          <a:p>
            <a:pPr marL="0" indent="0" algn="just">
              <a:lnSpc>
                <a:spcPct val="150000"/>
              </a:lnSpc>
              <a:buNone/>
            </a:pPr>
            <a:r>
              <a:rPr lang="en-US" sz="1700" dirty="0">
                <a:solidFill>
                  <a:schemeClr val="tx1"/>
                </a:solidFill>
                <a:latin typeface="Times New Roman" panose="02020603050405020304" pitchFamily="18" charset="0"/>
                <a:cs typeface="Times New Roman" panose="02020603050405020304" pitchFamily="18" charset="0"/>
              </a:rPr>
              <a:t>[7] “MCQGEN: A LARGE LANGUAGE MODEL-DRIVEN MCQ GENERATOR FOR PERSONALIZED LEARNING”:  Ching Nam Hang,  Pei-duo Yu, Chee Wei Tan in Institute of Electrical and Electronics Engineers, June 2024.</a:t>
            </a:r>
          </a:p>
          <a:p>
            <a:pPr marL="0" indent="0" algn="just">
              <a:lnSpc>
                <a:spcPct val="150000"/>
              </a:lnSpc>
              <a:buNone/>
            </a:pPr>
            <a:r>
              <a:rPr lang="en-US" sz="1700" dirty="0">
                <a:solidFill>
                  <a:schemeClr val="tx1"/>
                </a:solidFill>
                <a:latin typeface="Times New Roman" panose="02020603050405020304" pitchFamily="18" charset="0"/>
                <a:cs typeface="Times New Roman" panose="02020603050405020304" pitchFamily="18" charset="0"/>
              </a:rPr>
              <a:t>[8] “GENMCQPRO: AI-DRIVEN MCQ REVOLUTION”: Muralidharan A, Prem Raj, Rohan Vignesh S, Neyan AM,  Dr. S. Hemamalini in </a:t>
            </a:r>
            <a:r>
              <a:rPr lang="en-US" sz="1700" dirty="0" err="1">
                <a:solidFill>
                  <a:schemeClr val="tx1"/>
                </a:solidFill>
                <a:latin typeface="Times New Roman" panose="02020603050405020304" pitchFamily="18" charset="0"/>
                <a:cs typeface="Times New Roman" panose="02020603050405020304" pitchFamily="18" charset="0"/>
              </a:rPr>
              <a:t>Technix</a:t>
            </a:r>
            <a:r>
              <a:rPr lang="en-US" sz="1700" dirty="0">
                <a:solidFill>
                  <a:schemeClr val="tx1"/>
                </a:solidFill>
                <a:latin typeface="Times New Roman" panose="02020603050405020304" pitchFamily="18" charset="0"/>
                <a:cs typeface="Times New Roman" panose="02020603050405020304" pitchFamily="18" charset="0"/>
              </a:rPr>
              <a:t> International Journal for Engineering Research, July 2024.</a:t>
            </a:r>
            <a:endParaRPr lang="en-IN" sz="17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02779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A70E02-24CB-9C6A-DCA0-6BCBA33B434A}"/>
              </a:ext>
            </a:extLst>
          </p:cNvPr>
          <p:cNvSpPr>
            <a:spLocks noGrp="1"/>
          </p:cNvSpPr>
          <p:nvPr>
            <p:ph idx="1"/>
          </p:nvPr>
        </p:nvSpPr>
        <p:spPr>
          <a:xfrm>
            <a:off x="1797666" y="2538319"/>
            <a:ext cx="8596668" cy="1224770"/>
          </a:xfrm>
        </p:spPr>
        <p:txBody>
          <a:bodyPr>
            <a:normAutofit/>
          </a:bodyPr>
          <a:lstStyle/>
          <a:p>
            <a:pPr marL="0" indent="0" algn="ctr">
              <a:buNone/>
            </a:pPr>
            <a:r>
              <a:rPr lang="en-IN" sz="7200" b="1" dirty="0">
                <a:solidFill>
                  <a:schemeClr val="tx1"/>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904822074"/>
      </p:ext>
    </p:extLst>
  </p:cSld>
  <p:clrMapOvr>
    <a:masterClrMapping/>
  </p:clrMapOvr>
</p:sld>
</file>

<file path=ppt/theme/theme1.xml><?xml version="1.0" encoding="utf-8"?>
<a:theme xmlns:a="http://schemas.openxmlformats.org/drawingml/2006/main" name="Face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1241</TotalTime>
  <Words>2767</Words>
  <Application>Microsoft Office PowerPoint</Application>
  <PresentationFormat>Widescreen</PresentationFormat>
  <Paragraphs>186</Paragraphs>
  <Slides>28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Calibri</vt:lpstr>
      <vt:lpstr>Symbol</vt:lpstr>
      <vt:lpstr>Times New Roman</vt:lpstr>
      <vt:lpstr>Trebuchet MS</vt:lpstr>
      <vt:lpstr>Wingdings</vt:lpstr>
      <vt:lpstr>Wingdings 3</vt:lpstr>
      <vt:lpstr>Facet</vt:lpstr>
      <vt:lpstr>AI BASED QUIZ SYSTEM </vt:lpstr>
      <vt:lpstr>INTRODUCTION</vt:lpstr>
      <vt:lpstr>PowerPoint Presentation</vt:lpstr>
      <vt:lpstr>LITERATURE SURVEY OF THE EXISTING SYSTEM</vt:lpstr>
      <vt:lpstr>PowerPoint Presentation</vt:lpstr>
      <vt:lpstr>PowerPoint Presentation</vt:lpstr>
      <vt:lpstr>PowerPoint Presentation</vt:lpstr>
      <vt:lpstr>LIMITATIONS OF THE EXISTING SYSTEM</vt:lpstr>
      <vt:lpstr>PROBLEM STATEMENT</vt:lpstr>
      <vt:lpstr>PROPOSED SYSTEM DIAGRAM</vt:lpstr>
      <vt:lpstr>EXPLANATION OF DIAGRAM</vt:lpstr>
      <vt:lpstr>PowerPoint Presentation</vt:lpstr>
      <vt:lpstr>PowerPoint Presentation</vt:lpstr>
      <vt:lpstr>FRAMEWORK</vt:lpstr>
      <vt:lpstr>PowerPoint Presentation</vt:lpstr>
      <vt:lpstr>PowerPoint Presentation</vt:lpstr>
      <vt:lpstr>PowerPoint Presentation</vt:lpstr>
      <vt:lpstr>TECHNOLOGIES</vt:lpstr>
      <vt:lpstr>METHODOLOGIES</vt:lpstr>
      <vt:lpstr>DETAILS OF DATABASE</vt:lpstr>
      <vt:lpstr>DETAILS OF DATABASE</vt:lpstr>
      <vt:lpstr>IMPLEMENTATION</vt:lpstr>
      <vt:lpstr>IMPLEMENTATIONS</vt:lpstr>
      <vt:lpstr>IMPLEMENTATIONS</vt:lpstr>
      <vt:lpstr>CONCLUSION</vt:lpstr>
      <vt:lpstr>REFERENCES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kunal pawar</dc:creator>
  <cp:lastModifiedBy>yash penkar</cp:lastModifiedBy>
  <cp:revision>127</cp:revision>
  <dcterms:created xsi:type="dcterms:W3CDTF">2025-02-06T14:15:05Z</dcterms:created>
  <dcterms:modified xsi:type="dcterms:W3CDTF">2025-03-19T04:57:32Z</dcterms:modified>
</cp:coreProperties>
</file>